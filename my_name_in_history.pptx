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333344"/>
                </a:solidFill>
                <a:latin typeface="Calibri"/>
              </a:defRPr>
            </a:pPr>
            <a:r>
              <a:rPr sz="1200" b="0" i="0" u="none" strike="noStrike">
                <a:solidFill>
                  <a:srgbClr val="333344"/>
                </a:solidFill>
                <a:latin typeface="Calibri"/>
              </a:rPr>
              <a:t>Court records by decade</a:t>
            </a:r>
          </a:p>
        </c:rich>
      </c:tx>
      <c:layout/>
      <c:overlay val="0"/>
    </c:title>
    <c:autoTitleDeleted val="0"/>
    <c:plotArea>
      <c:layout/>
      <c:barChart>
        <c:barDir val="col"/>
        <c:grouping val="clustered"/>
        <c:varyColors val="0"/>
        <c:ser>
          <c:idx val="0"/>
          <c:order val="0"/>
          <c:tx>
            <c:strRef>
              <c:f>Sheet1!$B$1</c:f>
              <c:strCache>
                <c:ptCount val="1"/>
                <c:pt idx="0">
                  <c:v>Court record appearances</c:v>
                </c:pt>
              </c:strCache>
            </c:strRef>
          </c:tx>
          <c:spPr>
            <a:solidFill>
              <a:srgbClr val="2471A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2471A3"/>
              </a:solidFill>
              <a:effectLst/>
            </c:spPr>
          </c:dPt>
          <c:dPt>
            <c:idx val="1"/>
            <c:invertIfNegative val="0"/>
            <c:bubble3D val="0"/>
            <c:spPr>
              <a:solidFill>
                <a:srgbClr val="2471A3"/>
              </a:solidFill>
              <a:effectLst/>
            </c:spPr>
          </c:dPt>
          <c:dPt>
            <c:idx val="2"/>
            <c:invertIfNegative val="0"/>
            <c:bubble3D val="0"/>
            <c:spPr>
              <a:solidFill>
                <a:srgbClr val="2471A3"/>
              </a:solidFill>
              <a:effectLst/>
            </c:spPr>
          </c:dPt>
          <c:dPt>
            <c:idx val="3"/>
            <c:invertIfNegative val="0"/>
            <c:bubble3D val="0"/>
            <c:spPr>
              <a:solidFill>
                <a:srgbClr val="2471A3"/>
              </a:solidFill>
              <a:effectLst/>
            </c:spPr>
          </c:dPt>
          <c:dPt>
            <c:idx val="4"/>
            <c:invertIfNegative val="0"/>
            <c:bubble3D val="0"/>
            <c:spPr>
              <a:solidFill>
                <a:srgbClr val="E67E22"/>
              </a:solidFill>
              <a:effectLst/>
            </c:spPr>
          </c:dPt>
          <c:dPt>
            <c:idx val="5"/>
            <c:invertIfNegative val="0"/>
            <c:bubble3D val="0"/>
            <c:spPr>
              <a:solidFill>
                <a:srgbClr val="C0392B"/>
              </a:solidFill>
              <a:effectLst/>
            </c:spPr>
          </c:dPt>
          <c:dPt>
            <c:idx val="6"/>
            <c:invertIfNegative val="0"/>
            <c:bubble3D val="0"/>
            <c:spPr>
              <a:solidFill>
                <a:srgbClr val="C0392B"/>
              </a:solidFill>
              <a:effectLst/>
            </c:spPr>
          </c:dPt>
          <c:dPt>
            <c:idx val="7"/>
            <c:invertIfNegative val="0"/>
            <c:bubble3D val="0"/>
            <c:spPr>
              <a:solidFill>
                <a:srgbClr val="9098B0"/>
              </a:solidFill>
              <a:effectLst/>
            </c:spPr>
          </c:dPt>
          <c:dPt>
            <c:idx val="8"/>
            <c:invertIfNegative val="0"/>
            <c:bubble3D val="0"/>
            <c:spPr>
              <a:solidFill>
                <a:srgbClr val="9098B0"/>
              </a:solidFill>
              <a:effectLst/>
            </c:spPr>
          </c:dPt>
          <c:dPt>
            <c:idx val="9"/>
            <c:invertIfNegative val="0"/>
            <c:bubble3D val="0"/>
            <c:spPr>
              <a:solidFill>
                <a:srgbClr val="9098B0"/>
              </a:solidFill>
              <a:effectLst/>
            </c:spPr>
          </c:dPt>
          <c:cat>
            <c:multiLvlStrRef>
              <c:f>Sheet1!$A$2:$A$11</c:f>
              <c:multiLvlStrCache>
                <c:ptCount val="10"/>
                <c:lvl>
                  <c:pt idx="0">
                    <c:v>1820s</c:v>
                  </c:pt>
                  <c:pt idx="1">
                    <c:v>1830s</c:v>
                  </c:pt>
                  <c:pt idx="2">
                    <c:v>1840s</c:v>
                  </c:pt>
                  <c:pt idx="3">
                    <c:v>1850s</c:v>
                  </c:pt>
                  <c:pt idx="4">
                    <c:v>1860s</c:v>
                  </c:pt>
                  <c:pt idx="5">
                    <c:v>1870s</c:v>
                  </c:pt>
                  <c:pt idx="6">
                    <c:v>1880s</c:v>
                  </c:pt>
                  <c:pt idx="7">
                    <c:v>1890s</c:v>
                  </c:pt>
                  <c:pt idx="8">
                    <c:v>1900s</c:v>
                  </c:pt>
                  <c:pt idx="9">
                    <c:v>1910s</c:v>
                  </c:pt>
                </c:lvl>
              </c:multiLvlStrCache>
            </c:multiLvlStrRef>
          </c:cat>
          <c:val>
            <c:numRef>
              <c:f>Sheet1!$B$2:$B$11</c:f>
              <c:numCache>
                <c:formatCode>General</c:formatCode>
                <c:ptCount val="10"/>
                <c:pt idx="0">
                  <c:v>1021</c:v>
                </c:pt>
                <c:pt idx="1">
                  <c:v>1377</c:v>
                </c:pt>
                <c:pt idx="2">
                  <c:v>2067</c:v>
                </c:pt>
                <c:pt idx="3">
                  <c:v>4583</c:v>
                </c:pt>
                <c:pt idx="4">
                  <c:v>14403</c:v>
                </c:pt>
                <c:pt idx="5">
                  <c:v>30542</c:v>
                </c:pt>
                <c:pt idx="6">
                  <c:v>39517</c:v>
                </c:pt>
                <c:pt idx="7">
                  <c:v>4369</c:v>
                </c:pt>
                <c:pt idx="8">
                  <c:v>1425</c:v>
                </c:pt>
                <c:pt idx="9">
                  <c:v>673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333344"/>
                </a:solidFill>
                <a:latin typeface="Calibri"/>
              </a:defRPr>
            </a:pPr>
            <a:r>
              <a:rPr sz="1200" b="0" i="0" u="none" strike="noStrike">
                <a:solidFill>
                  <a:srgbClr val="333344"/>
                </a:solidFill>
                <a:latin typeface="Calibri"/>
              </a:rPr>
              <a:t>ENB publications by decade</a:t>
            </a:r>
          </a:p>
        </c:rich>
      </c:tx>
      <c:layout/>
      <c:overlay val="0"/>
    </c:title>
    <c:autoTitleDeleted val="0"/>
    <c:plotArea>
      <c:layout/>
      <c:lineChart>
        <c:varyColors val="0"/>
        <c:ser>
          <c:idx val="0"/>
          <c:order val="0"/>
          <c:tx>
            <c:strRef>
              <c:f>Sheet1!$B$1</c:f>
              <c:strCache>
                <c:ptCount val="1"/>
                <c:pt idx="0">
                  <c:v>Publications</c:v>
                </c:pt>
              </c:strCache>
            </c:strRef>
          </c:tx>
          <c:spPr>
            <a:solidFill>
              <a:srgbClr val="0F6E56"/>
            </a:solidFill>
            <a:ln w="31750" cap="flat">
              <a:solidFill>
                <a:srgbClr val="0F6E5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6E56"/>
              </a:solidFill>
              <a:ln w="9525" cap="flat">
                <a:solidFill>
                  <a:srgbClr val="0F6E56"/>
                </a:solidFill>
                <a:prstDash val="solid"/>
                <a:round/>
              </a:ln>
              <a:effectLst/>
            </c:spPr>
          </c:marker>
          <c:cat>
            <c:multiLvlStrRef>
              <c:f>Sheet1!$A$2:$A$12</c:f>
              <c:multiLvlStrCache>
                <c:ptCount val="11"/>
                <c:lvl>
                  <c:pt idx="0">
                    <c:v>1800</c:v>
                  </c:pt>
                  <c:pt idx="1">
                    <c:v>1820</c:v>
                  </c:pt>
                  <c:pt idx="2">
                    <c:v>1840</c:v>
                  </c:pt>
                  <c:pt idx="3">
                    <c:v>1860</c:v>
                  </c:pt>
                  <c:pt idx="4">
                    <c:v>1880</c:v>
                  </c:pt>
                  <c:pt idx="5">
                    <c:v>1900</c:v>
                  </c:pt>
                  <c:pt idx="6">
                    <c:v>1910</c:v>
                  </c:pt>
                  <c:pt idx="7">
                    <c:v>1920</c:v>
                  </c:pt>
                  <c:pt idx="8">
                    <c:v>1930</c:v>
                  </c:pt>
                  <c:pt idx="9">
                    <c:v>1940</c:v>
                  </c:pt>
                  <c:pt idx="10">
                    <c:v>1950</c:v>
                  </c:pt>
                </c:lvl>
              </c:multiLvlStrCache>
            </c:multiLvlStrRef>
          </c:cat>
          <c:val>
            <c:numRef>
              <c:f>Sheet1!$B$2:$B$12</c:f>
              <c:numCache>
                <c:formatCode>General</c:formatCode>
                <c:ptCount val="11"/>
                <c:pt idx="0">
                  <c:v>26</c:v>
                </c:pt>
                <c:pt idx="1">
                  <c:v>56</c:v>
                </c:pt>
                <c:pt idx="2">
                  <c:v>64</c:v>
                </c:pt>
                <c:pt idx="3">
                  <c:v>127</c:v>
                </c:pt>
                <c:pt idx="4">
                  <c:v>178</c:v>
                </c:pt>
                <c:pt idx="5">
                  <c:v>550</c:v>
                </c:pt>
                <c:pt idx="6">
                  <c:v>797</c:v>
                </c:pt>
                <c:pt idx="7">
                  <c:v>898</c:v>
                </c:pt>
                <c:pt idx="8">
                  <c:v>1290</c:v>
                </c:pt>
                <c:pt idx="9">
                  <c:v>811</c:v>
                </c:pt>
                <c:pt idx="10">
                  <c:v>1974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381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3344"/>
                </a:solidFill>
                <a:latin typeface="Calibri"/>
              </a:defRPr>
            </a:pPr>
            <a:r>
              <a:rPr sz="1200" b="0" i="0" u="none" strike="noStrike">
                <a:solidFill>
                  <a:srgbClr val="333344"/>
                </a:solidFill>
                <a:latin typeface="Calibri"/>
              </a:rPr>
              <a:t>Records by county (sample 100k)</a:t>
            </a:r>
          </a:p>
        </c:rich>
      </c:tx>
      <c:layout/>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F6E5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Tartu</c:v>
                  </c:pt>
                  <c:pt idx="1">
                    <c:v>Võru</c:v>
                  </c:pt>
                  <c:pt idx="2">
                    <c:v>Lääne</c:v>
                  </c:pt>
                  <c:pt idx="3">
                    <c:v>Harju</c:v>
                  </c:pt>
                  <c:pt idx="4">
                    <c:v>Viljandi</c:v>
                  </c:pt>
                  <c:pt idx="5">
                    <c:v>Pärnu</c:v>
                  </c:pt>
                  <c:pt idx="6">
                    <c:v>Järva</c:v>
                  </c:pt>
                  <c:pt idx="7">
                    <c:v>Saare</c:v>
                  </c:pt>
                  <c:pt idx="8">
                    <c:v>Viru</c:v>
                  </c:pt>
                </c:lvl>
              </c:multiLvlStrCache>
            </c:multiLvlStrRef>
          </c:cat>
          <c:val>
            <c:numRef>
              <c:f>Sheet1!$B$2:$B$10</c:f>
              <c:numCache>
                <c:formatCode>General</c:formatCode>
                <c:ptCount val="9"/>
                <c:pt idx="0">
                  <c:v>24165</c:v>
                </c:pt>
                <c:pt idx="1">
                  <c:v>16548</c:v>
                </c:pt>
                <c:pt idx="2">
                  <c:v>14724</c:v>
                </c:pt>
                <c:pt idx="3">
                  <c:v>12966</c:v>
                </c:pt>
                <c:pt idx="4">
                  <c:v>11963</c:v>
                </c:pt>
                <c:pt idx="5">
                  <c:v>5591</c:v>
                </c:pt>
                <c:pt idx="6">
                  <c:v>4696</c:v>
                </c:pt>
                <c:pt idx="7">
                  <c:v>3167</c:v>
                </c:pt>
                <c:pt idx="8">
                  <c:v>3058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4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3344"/>
                </a:solidFill>
                <a:latin typeface="Calibri"/>
              </a:defRPr>
            </a:pPr>
            <a:r>
              <a:rPr sz="1200" b="0" i="0" u="none" strike="noStrike">
                <a:solidFill>
                  <a:srgbClr val="333344"/>
                </a:solidFill>
                <a:latin typeface="Calibri"/>
              </a:rPr>
              <a:t>Top case types in court records</a:t>
            </a:r>
          </a:p>
        </c:rich>
      </c:tx>
      <c:layout/>
      <c:overlay val="0"/>
    </c:title>
    <c:autoTitleDeleted val="0"/>
    <c:plotArea>
      <c:layout/>
      <c:barChart>
        <c:barDir val="bar"/>
        <c:grouping val="clustered"/>
        <c:varyColors val="0"/>
        <c:ser>
          <c:idx val="0"/>
          <c:order val="0"/>
          <c:tx>
            <c:strRef>
              <c:f>Sheet1!$B$1</c:f>
              <c:strCache>
                <c:ptCount val="1"/>
                <c:pt idx="0">
                  <c:v>Cases</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Loan disputes</c:v>
                  </c:pt>
                  <c:pt idx="1">
                    <c:v>Court admin</c:v>
                  </c:pt>
                  <c:pt idx="2">
                    <c:v>Land &amp; buildings</c:v>
                  </c:pt>
                  <c:pt idx="3">
                    <c:v>Property crimes</c:v>
                  </c:pt>
                  <c:pt idx="4">
                    <c:v>Damages</c:v>
                  </c:pt>
                  <c:pt idx="5">
                    <c:v>Family &amp; inheritance</c:v>
                  </c:pt>
                  <c:pt idx="6">
                    <c:v>Insults &amp; violence</c:v>
                  </c:pt>
                  <c:pt idx="7">
                    <c:v>Labour relations</c:v>
                  </c:pt>
                </c:lvl>
              </c:multiLvlStrCache>
            </c:multiLvlStrRef>
          </c:cat>
          <c:val>
            <c:numRef>
              <c:f>Sheet1!$B$2:$B$9</c:f>
              <c:numCache>
                <c:formatCode>General</c:formatCode>
                <c:ptCount val="8"/>
                <c:pt idx="0">
                  <c:v>9603</c:v>
                </c:pt>
                <c:pt idx="1">
                  <c:v>9137</c:v>
                </c:pt>
                <c:pt idx="2">
                  <c:v>7511</c:v>
                </c:pt>
                <c:pt idx="3">
                  <c:v>7482</c:v>
                </c:pt>
                <c:pt idx="4">
                  <c:v>7413</c:v>
                </c:pt>
                <c:pt idx="5">
                  <c:v>6966</c:v>
                </c:pt>
                <c:pt idx="6">
                  <c:v>6803</c:v>
                </c:pt>
                <c:pt idx="7">
                  <c:v>6356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4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381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55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0392B"/>
          </a:solidFill>
          <a:ln/>
        </p:spPr>
      </p:sp>
      <p:sp>
        <p:nvSpPr>
          <p:cNvPr id="3" name="Text 1"/>
          <p:cNvSpPr/>
          <p:nvPr/>
        </p:nvSpPr>
        <p:spPr>
          <a:xfrm>
            <a:off x="457200" y="1005840"/>
            <a:ext cx="8229600" cy="274320"/>
          </a:xfrm>
          <a:prstGeom prst="rect">
            <a:avLst/>
          </a:prstGeom>
          <a:noFill/>
          <a:ln/>
        </p:spPr>
        <p:txBody>
          <a:bodyPr wrap="square" rtlCol="0" anchor="ctr"/>
          <a:lstStyle/>
          <a:p>
            <a:pPr indent="0" marL="0">
              <a:buNone/>
            </a:pPr>
            <a:r>
              <a:rPr lang="en-US" sz="1000" b="1" spc="300" kern="0" dirty="0">
                <a:solidFill>
                  <a:srgbClr val="C0392B"/>
                </a:solidFill>
                <a:latin typeface="Calibri" pitchFamily="34" charset="0"/>
                <a:ea typeface="Calibri" pitchFamily="34" charset="-122"/>
                <a:cs typeface="Calibri" pitchFamily="34" charset="-120"/>
              </a:rPr>
              <a:t>HUM HACKATHON 2026</a:t>
            </a:r>
            <a:endParaRPr lang="en-US" sz="1000" dirty="0"/>
          </a:p>
        </p:txBody>
      </p:sp>
      <p:sp>
        <p:nvSpPr>
          <p:cNvPr id="4" name="Text 2"/>
          <p:cNvSpPr/>
          <p:nvPr/>
        </p:nvSpPr>
        <p:spPr>
          <a:xfrm>
            <a:off x="457200" y="1371600"/>
            <a:ext cx="8229600" cy="109728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My Name in History</a:t>
            </a:r>
            <a:endParaRPr lang="en-US" sz="4800" dirty="0"/>
          </a:p>
        </p:txBody>
      </p:sp>
      <p:sp>
        <p:nvSpPr>
          <p:cNvPr id="5" name="Text 3"/>
          <p:cNvSpPr/>
          <p:nvPr/>
        </p:nvSpPr>
        <p:spPr>
          <a:xfrm>
            <a:off x="457200" y="2560320"/>
            <a:ext cx="6858000" cy="640080"/>
          </a:xfrm>
          <a:prstGeom prst="rect">
            <a:avLst/>
          </a:prstGeom>
          <a:noFill/>
          <a:ln/>
        </p:spPr>
        <p:txBody>
          <a:bodyPr wrap="square" rtlCol="0" anchor="ctr"/>
          <a:lstStyle/>
          <a:p>
            <a:pPr indent="0" marL="0">
              <a:buNone/>
            </a:pPr>
            <a:r>
              <a:rPr lang="en-US" sz="1600" i="1" dirty="0">
                <a:solidFill>
                  <a:srgbClr val="D4D8E8"/>
                </a:solidFill>
                <a:latin typeface="Calibri" pitchFamily="34" charset="0"/>
                <a:ea typeface="Calibri" pitchFamily="34" charset="-122"/>
                <a:cs typeface="Calibri" pitchFamily="34" charset="-120"/>
              </a:rPr>
              <a:t>Tracing Estonian family names from 19th-century court records to published authorship</a:t>
            </a:r>
            <a:endParaRPr lang="en-US" sz="1600" dirty="0"/>
          </a:p>
        </p:txBody>
      </p:sp>
      <p:sp>
        <p:nvSpPr>
          <p:cNvPr id="6" name="Shape 4"/>
          <p:cNvSpPr/>
          <p:nvPr/>
        </p:nvSpPr>
        <p:spPr>
          <a:xfrm>
            <a:off x="457200" y="3337560"/>
            <a:ext cx="45720" cy="1097280"/>
          </a:xfrm>
          <a:prstGeom prst="rect">
            <a:avLst/>
          </a:prstGeom>
          <a:solidFill>
            <a:srgbClr val="E67E22"/>
          </a:solidFill>
          <a:ln/>
        </p:spPr>
      </p:sp>
      <p:sp>
        <p:nvSpPr>
          <p:cNvPr id="7" name="Text 5"/>
          <p:cNvSpPr/>
          <p:nvPr/>
        </p:nvSpPr>
        <p:spPr>
          <a:xfrm>
            <a:off x="640080" y="3337560"/>
            <a:ext cx="8046720" cy="1097280"/>
          </a:xfrm>
          <a:prstGeom prst="rect">
            <a:avLst/>
          </a:prstGeom>
          <a:noFill/>
          <a:ln/>
        </p:spPr>
        <p:txBody>
          <a:bodyPr wrap="square" rtlCol="0" anchor="ctr"/>
          <a:lstStyle/>
          <a:p>
            <a:pPr indent="0" marL="0">
              <a:buNone/>
            </a:pPr>
            <a:r>
              <a:rPr lang="en-US" sz="1400" i="1" dirty="0">
                <a:solidFill>
                  <a:srgbClr val="F0EEE8"/>
                </a:solidFill>
                <a:latin typeface="Georgia" pitchFamily="34" charset="0"/>
                <a:ea typeface="Georgia" pitchFamily="34" charset="-122"/>
                <a:cs typeface="Georgia" pitchFamily="34" charset="-120"/>
              </a:rPr>
              <a:t>“The court records show Estonia before it had a voice.</a:t>
            </a:r>
            <a:endParaRPr lang="en-US" sz="1400" dirty="0"/>
          </a:p>
          <a:p>
            <a:pPr indent="0" marL="0">
              <a:buNone/>
            </a:pPr>
            <a:r>
              <a:rPr lang="en-US" sz="1400" i="1" dirty="0">
                <a:solidFill>
                  <a:srgbClr val="F0EEE8"/>
                </a:solidFill>
                <a:latin typeface="Georgia" pitchFamily="34" charset="0"/>
                <a:ea typeface="Georgia" pitchFamily="34" charset="-122"/>
                <a:cs typeface="Georgia" pitchFamily="34" charset="-120"/>
              </a:rPr>
              <a:t>The bibliography shows Estonia finding one.”</a:t>
            </a:r>
            <a:endParaRPr lang="en-US" sz="1400" dirty="0"/>
          </a:p>
        </p:txBody>
      </p:sp>
      <p:sp>
        <p:nvSpPr>
          <p:cNvPr id="8" name="Text 6"/>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F1A"/>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IDEA &amp; RESEARCH QUESTION</a:t>
            </a:r>
            <a:endParaRPr lang="en-US" sz="900" dirty="0"/>
          </a:p>
        </p:txBody>
      </p:sp>
      <p:sp>
        <p:nvSpPr>
          <p:cNvPr id="3" name="Text 1"/>
          <p:cNvSpPr/>
          <p:nvPr/>
        </p:nvSpPr>
        <p:spPr>
          <a:xfrm>
            <a:off x="457200" y="502920"/>
            <a:ext cx="822960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question drove this project?</a:t>
            </a:r>
            <a:endParaRPr lang="en-US" sz="3000" dirty="0"/>
          </a:p>
        </p:txBody>
      </p:sp>
      <p:sp>
        <p:nvSpPr>
          <p:cNvPr id="4" name="Shape 2"/>
          <p:cNvSpPr/>
          <p:nvPr/>
        </p:nvSpPr>
        <p:spPr>
          <a:xfrm>
            <a:off x="365760" y="1325880"/>
            <a:ext cx="3931920" cy="3291840"/>
          </a:xfrm>
          <a:prstGeom prst="rect">
            <a:avLst/>
          </a:prstGeom>
          <a:solidFill>
            <a:srgbClr val="1E2440"/>
          </a:solidFill>
          <a:ln w="6350">
            <a:solidFill>
              <a:srgbClr val="2C3454"/>
            </a:solidFill>
            <a:prstDash val="solid"/>
          </a:ln>
        </p:spPr>
      </p:sp>
      <p:sp>
        <p:nvSpPr>
          <p:cNvPr id="5" name="Text 3"/>
          <p:cNvSpPr/>
          <p:nvPr/>
        </p:nvSpPr>
        <p:spPr>
          <a:xfrm>
            <a:off x="594360" y="1463040"/>
            <a:ext cx="3474720" cy="320040"/>
          </a:xfrm>
          <a:prstGeom prst="rect">
            <a:avLst/>
          </a:prstGeom>
          <a:noFill/>
          <a:ln/>
        </p:spPr>
        <p:txBody>
          <a:bodyPr wrap="square"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The Problem</a:t>
            </a:r>
            <a:endParaRPr lang="en-US" sz="1300" dirty="0"/>
          </a:p>
        </p:txBody>
      </p:sp>
      <p:sp>
        <p:nvSpPr>
          <p:cNvPr id="6" name="Text 4"/>
          <p:cNvSpPr/>
          <p:nvPr/>
        </p:nvSpPr>
        <p:spPr>
          <a:xfrm>
            <a:off x="594360" y="1828800"/>
            <a:ext cx="3474720" cy="1371600"/>
          </a:xfrm>
          <a:prstGeom prst="rect">
            <a:avLst/>
          </a:prstGeom>
          <a:noFill/>
          <a:ln/>
        </p:spPr>
        <p:txBody>
          <a:bodyPr wrap="square" rtlCol="0" anchor="ctr"/>
          <a:lstStyle/>
          <a:p>
            <a:pPr indent="0" marL="0">
              <a:lnSpc>
                <a:spcPct val="130000"/>
              </a:lnSpc>
              <a:buNone/>
            </a:pPr>
            <a:r>
              <a:rPr lang="en-US" sz="1200" dirty="0">
                <a:solidFill>
                  <a:srgbClr val="D4D8E8"/>
                </a:solidFill>
                <a:latin typeface="Calibri" pitchFamily="34" charset="0"/>
                <a:ea typeface="Calibri" pitchFamily="34" charset="-122"/>
                <a:cs typeface="Calibri" pitchFamily="34" charset="-120"/>
              </a:rPr>
              <a:t>Estonian parish court records and the national bibliography exist as completely separate historical worlds. No tool links them. No product lets an ordinary person explore how their family name moved through history.</a:t>
            </a:r>
            <a:endParaRPr lang="en-US" sz="1200" dirty="0"/>
          </a:p>
        </p:txBody>
      </p:sp>
      <p:sp>
        <p:nvSpPr>
          <p:cNvPr id="7" name="Text 5"/>
          <p:cNvSpPr/>
          <p:nvPr/>
        </p:nvSpPr>
        <p:spPr>
          <a:xfrm>
            <a:off x="594360" y="3200400"/>
            <a:ext cx="3474720" cy="274320"/>
          </a:xfrm>
          <a:prstGeom prst="rect">
            <a:avLst/>
          </a:prstGeom>
          <a:noFill/>
          <a:ln/>
        </p:spPr>
        <p:txBody>
          <a:bodyPr wrap="square" rtlCol="0" anchor="ctr"/>
          <a:lstStyle/>
          <a:p>
            <a:pPr indent="0" marL="0">
              <a:buNone/>
            </a:pPr>
            <a:r>
              <a:rPr lang="en-US" sz="1100" b="1" dirty="0">
                <a:solidFill>
                  <a:srgbClr val="9098B0"/>
                </a:solidFill>
                <a:latin typeface="Calibri" pitchFamily="34" charset="0"/>
                <a:ea typeface="Calibri" pitchFamily="34" charset="-122"/>
                <a:cs typeface="Calibri" pitchFamily="34" charset="-120"/>
              </a:rPr>
              <a:t>Research question</a:t>
            </a:r>
            <a:endParaRPr lang="en-US" sz="1100" dirty="0"/>
          </a:p>
        </p:txBody>
      </p:sp>
      <p:sp>
        <p:nvSpPr>
          <p:cNvPr id="8" name="Text 6"/>
          <p:cNvSpPr/>
          <p:nvPr/>
        </p:nvSpPr>
        <p:spPr>
          <a:xfrm>
            <a:off x="594360" y="3493008"/>
            <a:ext cx="3474720" cy="1005840"/>
          </a:xfrm>
          <a:prstGeom prst="rect">
            <a:avLst/>
          </a:prstGeom>
          <a:noFill/>
          <a:ln/>
        </p:spPr>
        <p:txBody>
          <a:bodyPr wrap="square" rtlCol="0" anchor="ctr"/>
          <a:lstStyle/>
          <a:p>
            <a:pPr indent="0" marL="0">
              <a:lnSpc>
                <a:spcPct val="130000"/>
              </a:lnSpc>
              <a:buNone/>
            </a:pPr>
            <a:r>
              <a:rPr lang="en-US" sz="1100" i="1" dirty="0">
                <a:solidFill>
                  <a:srgbClr val="F0EEE8"/>
                </a:solidFill>
                <a:latin typeface="Calibri" pitchFamily="34" charset="0"/>
                <a:ea typeface="Calibri" pitchFamily="34" charset="-122"/>
                <a:cs typeface="Calibri" pitchFamily="34" charset="-120"/>
              </a:rPr>
              <a:t>Can we build a name disambiguation engine that bridges 19th-century German-orthography court records with the Estonian National Bibliography — and turn that bridge into a personal heritage experience accessible to everyone?</a:t>
            </a:r>
            <a:endParaRPr lang="en-US" sz="1100" dirty="0"/>
          </a:p>
        </p:txBody>
      </p:sp>
      <p:sp>
        <p:nvSpPr>
          <p:cNvPr id="9" name="Shape 7"/>
          <p:cNvSpPr/>
          <p:nvPr/>
        </p:nvSpPr>
        <p:spPr>
          <a:xfrm>
            <a:off x="4663440" y="1325880"/>
            <a:ext cx="3931920" cy="3291840"/>
          </a:xfrm>
          <a:prstGeom prst="rect">
            <a:avLst/>
          </a:prstGeom>
          <a:solidFill>
            <a:srgbClr val="1E2440"/>
          </a:solidFill>
          <a:ln w="6350">
            <a:solidFill>
              <a:srgbClr val="2C3454"/>
            </a:solidFill>
            <a:prstDash val="solid"/>
          </a:ln>
        </p:spPr>
      </p:sp>
      <p:sp>
        <p:nvSpPr>
          <p:cNvPr id="10" name="Text 8"/>
          <p:cNvSpPr/>
          <p:nvPr/>
        </p:nvSpPr>
        <p:spPr>
          <a:xfrm>
            <a:off x="4892040" y="1463040"/>
            <a:ext cx="3474720" cy="320040"/>
          </a:xfrm>
          <a:prstGeom prst="rect">
            <a:avLst/>
          </a:prstGeom>
          <a:noFill/>
          <a:ln/>
        </p:spPr>
        <p:txBody>
          <a:bodyPr wrap="square" rtlCol="0" anchor="ctr"/>
          <a:lstStyle/>
          <a:p>
            <a:pPr indent="0" marL="0">
              <a:buNone/>
            </a:pPr>
            <a:r>
              <a:rPr lang="en-US" sz="1300" b="1" dirty="0">
                <a:solidFill>
                  <a:srgbClr val="0F6E56"/>
                </a:solidFill>
                <a:latin typeface="Calibri" pitchFamily="34" charset="0"/>
                <a:ea typeface="Calibri" pitchFamily="34" charset="-122"/>
                <a:cs typeface="Calibri" pitchFamily="34" charset="-120"/>
              </a:rPr>
              <a:t>The Vision</a:t>
            </a:r>
            <a:endParaRPr lang="en-US" sz="1300" dirty="0"/>
          </a:p>
        </p:txBody>
      </p:sp>
      <p:sp>
        <p:nvSpPr>
          <p:cNvPr id="11" name="Shape 9"/>
          <p:cNvSpPr/>
          <p:nvPr/>
        </p:nvSpPr>
        <p:spPr>
          <a:xfrm>
            <a:off x="4663440" y="1874520"/>
            <a:ext cx="45720" cy="594360"/>
          </a:xfrm>
          <a:prstGeom prst="rect">
            <a:avLst/>
          </a:prstGeom>
          <a:solidFill>
            <a:srgbClr val="C0392B"/>
          </a:solidFill>
          <a:ln/>
        </p:spPr>
      </p:sp>
      <p:sp>
        <p:nvSpPr>
          <p:cNvPr id="12" name="Text 10"/>
          <p:cNvSpPr/>
          <p:nvPr/>
        </p:nvSpPr>
        <p:spPr>
          <a:xfrm>
            <a:off x="4846320" y="1874520"/>
            <a:ext cx="34747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History for everyone</a:t>
            </a:r>
            <a:endParaRPr lang="en-US" sz="1200" dirty="0"/>
          </a:p>
        </p:txBody>
      </p:sp>
      <p:sp>
        <p:nvSpPr>
          <p:cNvPr id="13" name="Text 11"/>
          <p:cNvSpPr/>
          <p:nvPr/>
        </p:nvSpPr>
        <p:spPr>
          <a:xfrm>
            <a:off x="4846320" y="2130552"/>
            <a:ext cx="3383280" cy="384048"/>
          </a:xfrm>
          <a:prstGeom prst="rect">
            <a:avLst/>
          </a:prstGeom>
          <a:noFill/>
          <a:ln/>
        </p:spPr>
        <p:txBody>
          <a:bodyPr wrap="square" rtlCol="0" anchor="ctr"/>
          <a:lstStyle/>
          <a:p>
            <a:pPr indent="0" marL="0">
              <a:lnSpc>
                <a:spcPct val="120000"/>
              </a:lnSpc>
              <a:buNone/>
            </a:pPr>
            <a:r>
              <a:rPr lang="en-US" sz="1000" dirty="0">
                <a:solidFill>
                  <a:srgbClr val="D4D8E8"/>
                </a:solidFill>
                <a:latin typeface="Calibri" pitchFamily="34" charset="0"/>
                <a:ea typeface="Calibri" pitchFamily="34" charset="-122"/>
                <a:cs typeface="Calibri" pitchFamily="34" charset="-120"/>
              </a:rPr>
              <a:t>Anyone curious about their family name can follow the arc — no archival expertise needed.</a:t>
            </a:r>
            <a:endParaRPr lang="en-US" sz="1000" dirty="0"/>
          </a:p>
        </p:txBody>
      </p:sp>
      <p:sp>
        <p:nvSpPr>
          <p:cNvPr id="14" name="Shape 12"/>
          <p:cNvSpPr/>
          <p:nvPr/>
        </p:nvSpPr>
        <p:spPr>
          <a:xfrm>
            <a:off x="4663440" y="2697480"/>
            <a:ext cx="45720" cy="594360"/>
          </a:xfrm>
          <a:prstGeom prst="rect">
            <a:avLst/>
          </a:prstGeom>
          <a:solidFill>
            <a:srgbClr val="C0392B"/>
          </a:solidFill>
          <a:ln/>
        </p:spPr>
      </p:sp>
      <p:sp>
        <p:nvSpPr>
          <p:cNvPr id="15" name="Text 13"/>
          <p:cNvSpPr/>
          <p:nvPr/>
        </p:nvSpPr>
        <p:spPr>
          <a:xfrm>
            <a:off x="4846320" y="2697480"/>
            <a:ext cx="34747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 experienced archivist, mathematically</a:t>
            </a:r>
            <a:endParaRPr lang="en-US" sz="1200" dirty="0"/>
          </a:p>
        </p:txBody>
      </p:sp>
      <p:sp>
        <p:nvSpPr>
          <p:cNvPr id="16" name="Text 14"/>
          <p:cNvSpPr/>
          <p:nvPr/>
        </p:nvSpPr>
        <p:spPr>
          <a:xfrm>
            <a:off x="4846320" y="2953512"/>
            <a:ext cx="3383280" cy="384048"/>
          </a:xfrm>
          <a:prstGeom prst="rect">
            <a:avLst/>
          </a:prstGeom>
          <a:noFill/>
          <a:ln/>
        </p:spPr>
        <p:txBody>
          <a:bodyPr wrap="square" rtlCol="0" anchor="ctr"/>
          <a:lstStyle/>
          <a:p>
            <a:pPr indent="0" marL="0">
              <a:lnSpc>
                <a:spcPct val="120000"/>
              </a:lnSpc>
              <a:buNone/>
            </a:pPr>
            <a:r>
              <a:rPr lang="en-US" sz="1000" dirty="0">
                <a:solidFill>
                  <a:srgbClr val="D4D8E8"/>
                </a:solidFill>
                <a:latin typeface="Calibri" pitchFamily="34" charset="0"/>
                <a:ea typeface="Calibri" pitchFamily="34" charset="-122"/>
                <a:cs typeface="Calibri" pitchFamily="34" charset="-120"/>
              </a:rPr>
              <a:t>The engine does what a trained archivist would — cross-referencing spelling variants, eras, regions — but at scale across millions of records.</a:t>
            </a:r>
            <a:endParaRPr lang="en-US" sz="1000" dirty="0"/>
          </a:p>
        </p:txBody>
      </p:sp>
      <p:sp>
        <p:nvSpPr>
          <p:cNvPr id="17" name="Shape 15"/>
          <p:cNvSpPr/>
          <p:nvPr/>
        </p:nvSpPr>
        <p:spPr>
          <a:xfrm>
            <a:off x="4663440" y="3520440"/>
            <a:ext cx="45720" cy="594360"/>
          </a:xfrm>
          <a:prstGeom prst="rect">
            <a:avLst/>
          </a:prstGeom>
          <a:solidFill>
            <a:srgbClr val="C0392B"/>
          </a:solidFill>
          <a:ln/>
        </p:spPr>
      </p:sp>
      <p:sp>
        <p:nvSpPr>
          <p:cNvPr id="18" name="Text 16"/>
          <p:cNvSpPr/>
          <p:nvPr/>
        </p:nvSpPr>
        <p:spPr>
          <a:xfrm>
            <a:off x="4846320" y="3520440"/>
            <a:ext cx="34747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From subject to author</a:t>
            </a:r>
            <a:endParaRPr lang="en-US" sz="1200" dirty="0"/>
          </a:p>
        </p:txBody>
      </p:sp>
      <p:sp>
        <p:nvSpPr>
          <p:cNvPr id="19" name="Text 17"/>
          <p:cNvSpPr/>
          <p:nvPr/>
        </p:nvSpPr>
        <p:spPr>
          <a:xfrm>
            <a:off x="4846320" y="3776472"/>
            <a:ext cx="3383280" cy="384048"/>
          </a:xfrm>
          <a:prstGeom prst="rect">
            <a:avLst/>
          </a:prstGeom>
          <a:noFill/>
          <a:ln/>
        </p:spPr>
        <p:txBody>
          <a:bodyPr wrap="square" rtlCol="0" anchor="ctr"/>
          <a:lstStyle/>
          <a:p>
            <a:pPr indent="0" marL="0">
              <a:lnSpc>
                <a:spcPct val="120000"/>
              </a:lnSpc>
              <a:buNone/>
            </a:pPr>
            <a:r>
              <a:rPr lang="en-US" sz="1000" dirty="0">
                <a:solidFill>
                  <a:srgbClr val="D4D8E8"/>
                </a:solidFill>
                <a:latin typeface="Calibri" pitchFamily="34" charset="0"/>
                <a:ea typeface="Calibri" pitchFamily="34" charset="-122"/>
                <a:cs typeface="Calibri" pitchFamily="34" charset="-120"/>
              </a:rPr>
              <a:t>The core narrative: Estonian peasants move from being documented by courts to documenting themselves through books.</a:t>
            </a:r>
            <a:endParaRPr lang="en-US" sz="1000" dirty="0"/>
          </a:p>
        </p:txBody>
      </p:sp>
      <p:sp>
        <p:nvSpPr>
          <p:cNvPr id="20" name="Text 18"/>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DATASETS</a:t>
            </a:r>
            <a:endParaRPr lang="en-US" sz="900" dirty="0"/>
          </a:p>
        </p:txBody>
      </p:sp>
      <p:sp>
        <p:nvSpPr>
          <p:cNvPr id="3" name="Text 1"/>
          <p:cNvSpPr/>
          <p:nvPr/>
        </p:nvSpPr>
        <p:spPr>
          <a:xfrm>
            <a:off x="457200" y="502920"/>
            <a:ext cx="8229600" cy="594360"/>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Three sources. One story.</a:t>
            </a:r>
            <a:endParaRPr lang="en-US" sz="3000" dirty="0"/>
          </a:p>
        </p:txBody>
      </p:sp>
      <p:sp>
        <p:nvSpPr>
          <p:cNvPr id="4" name="Shape 2"/>
          <p:cNvSpPr/>
          <p:nvPr/>
        </p:nvSpPr>
        <p:spPr>
          <a:xfrm>
            <a:off x="365760" y="1234440"/>
            <a:ext cx="2651760" cy="1143000"/>
          </a:xfrm>
          <a:prstGeom prst="rect">
            <a:avLst/>
          </a:prstGeom>
          <a:solidFill>
            <a:srgbClr val="FFFFFF"/>
          </a:solidFill>
          <a:ln w="6350">
            <a:solidFill>
              <a:srgbClr val="E0DDD5"/>
            </a:solidFill>
            <a:prstDash val="solid"/>
          </a:ln>
          <a:effectLst>
            <a:outerShdw sx="100000" sy="100000" kx="0" ky="0" algn="bl" rotWithShape="0" blurRad="101600" dist="25400" dir="8100000">
              <a:srgbClr val="000000">
                <a:alpha val="8000"/>
              </a:srgbClr>
            </a:outerShdw>
          </a:effectLst>
        </p:spPr>
      </p:sp>
      <p:sp>
        <p:nvSpPr>
          <p:cNvPr id="5" name="Text 3"/>
          <p:cNvSpPr/>
          <p:nvPr/>
        </p:nvSpPr>
        <p:spPr>
          <a:xfrm>
            <a:off x="365760" y="1298448"/>
            <a:ext cx="2651760" cy="530352"/>
          </a:xfrm>
          <a:prstGeom prst="rect">
            <a:avLst/>
          </a:prstGeom>
          <a:noFill/>
          <a:ln/>
        </p:spPr>
        <p:txBody>
          <a:bodyPr wrap="square" rtlCol="0" anchor="ctr"/>
          <a:lstStyle/>
          <a:p>
            <a:pPr algn="ctr" indent="0" marL="0">
              <a:buNone/>
            </a:pPr>
            <a:r>
              <a:rPr lang="en-US" sz="3200" b="1" dirty="0">
                <a:solidFill>
                  <a:srgbClr val="C0392B"/>
                </a:solidFill>
                <a:latin typeface="Georgia" pitchFamily="34" charset="0"/>
                <a:ea typeface="Georgia" pitchFamily="34" charset="-122"/>
                <a:cs typeface="Georgia" pitchFamily="34" charset="-120"/>
              </a:rPr>
              <a:t>3.99M</a:t>
            </a:r>
            <a:endParaRPr lang="en-US" sz="3200" dirty="0"/>
          </a:p>
        </p:txBody>
      </p:sp>
      <p:sp>
        <p:nvSpPr>
          <p:cNvPr id="6" name="Text 4"/>
          <p:cNvSpPr/>
          <p:nvPr/>
        </p:nvSpPr>
        <p:spPr>
          <a:xfrm>
            <a:off x="365760" y="1828800"/>
            <a:ext cx="2651760" cy="502920"/>
          </a:xfrm>
          <a:prstGeom prst="rect">
            <a:avLst/>
          </a:prstGeom>
          <a:noFill/>
          <a:ln/>
        </p:spPr>
        <p:txBody>
          <a:bodyPr wrap="square" rtlCol="0" anchor="ctr"/>
          <a:lstStyle/>
          <a:p>
            <a:pPr algn="ctr" indent="0" marL="0">
              <a:buNone/>
            </a:pPr>
            <a:r>
              <a:rPr lang="en-US" sz="1000" dirty="0">
                <a:solidFill>
                  <a:srgbClr val="555566"/>
                </a:solidFill>
                <a:latin typeface="Calibri" pitchFamily="34" charset="0"/>
                <a:ea typeface="Calibri" pitchFamily="34" charset="-122"/>
                <a:cs typeface="Calibri" pitchFamily="34" charset="-120"/>
              </a:rPr>
              <a:t>Parish court records</a:t>
            </a:r>
            <a:endParaRPr lang="en-US" sz="1000" dirty="0"/>
          </a:p>
          <a:p>
            <a:pPr algn="ctr" indent="0" marL="0">
              <a:buNone/>
            </a:pPr>
            <a:r>
              <a:rPr lang="en-US" sz="1000" dirty="0">
                <a:solidFill>
                  <a:srgbClr val="555566"/>
                </a:solidFill>
                <a:latin typeface="Calibri" pitchFamily="34" charset="0"/>
                <a:ea typeface="Calibri" pitchFamily="34" charset="-122"/>
                <a:cs typeface="Calibri" pitchFamily="34" charset="-120"/>
              </a:rPr>
              <a:t>1821 – 1925</a:t>
            </a:r>
            <a:endParaRPr lang="en-US" sz="1000" dirty="0"/>
          </a:p>
        </p:txBody>
      </p:sp>
      <p:sp>
        <p:nvSpPr>
          <p:cNvPr id="7" name="Shape 5"/>
          <p:cNvSpPr/>
          <p:nvPr/>
        </p:nvSpPr>
        <p:spPr>
          <a:xfrm>
            <a:off x="3291840" y="1234440"/>
            <a:ext cx="2651760" cy="1143000"/>
          </a:xfrm>
          <a:prstGeom prst="rect">
            <a:avLst/>
          </a:prstGeom>
          <a:solidFill>
            <a:srgbClr val="FFFFFF"/>
          </a:solidFill>
          <a:ln w="6350">
            <a:solidFill>
              <a:srgbClr val="E0DDD5"/>
            </a:solidFill>
            <a:prstDash val="solid"/>
          </a:ln>
          <a:effectLst>
            <a:outerShdw sx="100000" sy="100000" kx="0" ky="0" algn="bl" rotWithShape="0" blurRad="101600" dist="25400" dir="8100000">
              <a:srgbClr val="000000">
                <a:alpha val="8000"/>
              </a:srgbClr>
            </a:outerShdw>
          </a:effectLst>
        </p:spPr>
      </p:sp>
      <p:sp>
        <p:nvSpPr>
          <p:cNvPr id="8" name="Text 6"/>
          <p:cNvSpPr/>
          <p:nvPr/>
        </p:nvSpPr>
        <p:spPr>
          <a:xfrm>
            <a:off x="3291840" y="1298448"/>
            <a:ext cx="2651760" cy="530352"/>
          </a:xfrm>
          <a:prstGeom prst="rect">
            <a:avLst/>
          </a:prstGeom>
          <a:noFill/>
          <a:ln/>
        </p:spPr>
        <p:txBody>
          <a:bodyPr wrap="square" rtlCol="0" anchor="ctr"/>
          <a:lstStyle/>
          <a:p>
            <a:pPr algn="ctr" indent="0" marL="0">
              <a:buNone/>
            </a:pPr>
            <a:r>
              <a:rPr lang="en-US" sz="3200" b="1" dirty="0">
                <a:solidFill>
                  <a:srgbClr val="2471A3"/>
                </a:solidFill>
                <a:latin typeface="Georgia" pitchFamily="34" charset="0"/>
                <a:ea typeface="Georgia" pitchFamily="34" charset="-122"/>
                <a:cs typeface="Georgia" pitchFamily="34" charset="-120"/>
              </a:rPr>
              <a:t>321,000</a:t>
            </a:r>
            <a:endParaRPr lang="en-US" sz="3200" dirty="0"/>
          </a:p>
        </p:txBody>
      </p:sp>
      <p:sp>
        <p:nvSpPr>
          <p:cNvPr id="9" name="Text 7"/>
          <p:cNvSpPr/>
          <p:nvPr/>
        </p:nvSpPr>
        <p:spPr>
          <a:xfrm>
            <a:off x="3291840" y="1828800"/>
            <a:ext cx="2651760" cy="502920"/>
          </a:xfrm>
          <a:prstGeom prst="rect">
            <a:avLst/>
          </a:prstGeom>
          <a:noFill/>
          <a:ln/>
        </p:spPr>
        <p:txBody>
          <a:bodyPr wrap="square" rtlCol="0" anchor="ctr"/>
          <a:lstStyle/>
          <a:p>
            <a:pPr algn="ctr" indent="0" marL="0">
              <a:buNone/>
            </a:pPr>
            <a:r>
              <a:rPr lang="en-US" sz="1000" dirty="0">
                <a:solidFill>
                  <a:srgbClr val="555566"/>
                </a:solidFill>
                <a:latin typeface="Calibri" pitchFamily="34" charset="0"/>
                <a:ea typeface="Calibri" pitchFamily="34" charset="-122"/>
                <a:cs typeface="Calibri" pitchFamily="34" charset="-120"/>
              </a:rPr>
              <a:t>Books in the Estonian</a:t>
            </a:r>
            <a:endParaRPr lang="en-US" sz="1000" dirty="0"/>
          </a:p>
          <a:p>
            <a:pPr algn="ctr" indent="0" marL="0">
              <a:buNone/>
            </a:pPr>
            <a:r>
              <a:rPr lang="en-US" sz="1000" dirty="0">
                <a:solidFill>
                  <a:srgbClr val="555566"/>
                </a:solidFill>
                <a:latin typeface="Calibri" pitchFamily="34" charset="0"/>
                <a:ea typeface="Calibri" pitchFamily="34" charset="-122"/>
                <a:cs typeface="Calibri" pitchFamily="34" charset="-120"/>
              </a:rPr>
              <a:t>National Bibliography</a:t>
            </a:r>
            <a:endParaRPr lang="en-US" sz="1000" dirty="0"/>
          </a:p>
        </p:txBody>
      </p:sp>
      <p:sp>
        <p:nvSpPr>
          <p:cNvPr id="10" name="Shape 8"/>
          <p:cNvSpPr/>
          <p:nvPr/>
        </p:nvSpPr>
        <p:spPr>
          <a:xfrm>
            <a:off x="6217920" y="1234440"/>
            <a:ext cx="2651760" cy="1143000"/>
          </a:xfrm>
          <a:prstGeom prst="rect">
            <a:avLst/>
          </a:prstGeom>
          <a:solidFill>
            <a:srgbClr val="FFFFFF"/>
          </a:solidFill>
          <a:ln w="6350">
            <a:solidFill>
              <a:srgbClr val="E0DDD5"/>
            </a:solidFill>
            <a:prstDash val="solid"/>
          </a:ln>
          <a:effectLst>
            <a:outerShdw sx="100000" sy="100000" kx="0" ky="0" algn="bl" rotWithShape="0" blurRad="101600" dist="25400" dir="8100000">
              <a:srgbClr val="000000">
                <a:alpha val="8000"/>
              </a:srgbClr>
            </a:outerShdw>
          </a:effectLst>
        </p:spPr>
      </p:sp>
      <p:sp>
        <p:nvSpPr>
          <p:cNvPr id="11" name="Text 9"/>
          <p:cNvSpPr/>
          <p:nvPr/>
        </p:nvSpPr>
        <p:spPr>
          <a:xfrm>
            <a:off x="6217920" y="1298448"/>
            <a:ext cx="2651760" cy="530352"/>
          </a:xfrm>
          <a:prstGeom prst="rect">
            <a:avLst/>
          </a:prstGeom>
          <a:noFill/>
          <a:ln/>
        </p:spPr>
        <p:txBody>
          <a:bodyPr wrap="square" rtlCol="0" anchor="ctr"/>
          <a:lstStyle/>
          <a:p>
            <a:pPr algn="ctr" indent="0" marL="0">
              <a:buNone/>
            </a:pPr>
            <a:r>
              <a:rPr lang="en-US" sz="3200" b="1" dirty="0">
                <a:solidFill>
                  <a:srgbClr val="0F6E56"/>
                </a:solidFill>
                <a:latin typeface="Georgia" pitchFamily="34" charset="0"/>
                <a:ea typeface="Georgia" pitchFamily="34" charset="-122"/>
                <a:cs typeface="Georgia" pitchFamily="34" charset="-120"/>
              </a:rPr>
              <a:t>117,964</a:t>
            </a:r>
            <a:endParaRPr lang="en-US" sz="3200" dirty="0"/>
          </a:p>
        </p:txBody>
      </p:sp>
      <p:sp>
        <p:nvSpPr>
          <p:cNvPr id="12" name="Text 10"/>
          <p:cNvSpPr/>
          <p:nvPr/>
        </p:nvSpPr>
        <p:spPr>
          <a:xfrm>
            <a:off x="6217920" y="1828800"/>
            <a:ext cx="2651760" cy="502920"/>
          </a:xfrm>
          <a:prstGeom prst="rect">
            <a:avLst/>
          </a:prstGeom>
          <a:noFill/>
          <a:ln/>
        </p:spPr>
        <p:txBody>
          <a:bodyPr wrap="square" rtlCol="0" anchor="ctr"/>
          <a:lstStyle/>
          <a:p>
            <a:pPr algn="ctr" indent="0" marL="0">
              <a:buNone/>
            </a:pPr>
            <a:r>
              <a:rPr lang="en-US" sz="1000" dirty="0">
                <a:solidFill>
                  <a:srgbClr val="555566"/>
                </a:solidFill>
                <a:latin typeface="Calibri" pitchFamily="34" charset="0"/>
                <a:ea typeface="Calibri" pitchFamily="34" charset="-122"/>
                <a:cs typeface="Calibri" pitchFamily="34" charset="-120"/>
              </a:rPr>
              <a:t>Persons in the ENB</a:t>
            </a:r>
            <a:endParaRPr lang="en-US" sz="1000" dirty="0"/>
          </a:p>
          <a:p>
            <a:pPr algn="ctr" indent="0" marL="0">
              <a:buNone/>
            </a:pPr>
            <a:r>
              <a:rPr lang="en-US" sz="1000" dirty="0">
                <a:solidFill>
                  <a:srgbClr val="555566"/>
                </a:solidFill>
                <a:latin typeface="Calibri" pitchFamily="34" charset="0"/>
                <a:ea typeface="Calibri" pitchFamily="34" charset="-122"/>
                <a:cs typeface="Calibri" pitchFamily="34" charset="-120"/>
              </a:rPr>
              <a:t>persons dataset</a:t>
            </a:r>
            <a:endParaRPr lang="en-US" sz="1000" dirty="0"/>
          </a:p>
        </p:txBody>
      </p:sp>
      <p:sp>
        <p:nvSpPr>
          <p:cNvPr id="13" name="Shape 11"/>
          <p:cNvSpPr/>
          <p:nvPr/>
        </p:nvSpPr>
        <p:spPr>
          <a:xfrm>
            <a:off x="365760" y="2514600"/>
            <a:ext cx="2651760" cy="2377440"/>
          </a:xfrm>
          <a:prstGeom prst="rect">
            <a:avLst/>
          </a:prstGeom>
          <a:solidFill>
            <a:srgbClr val="FFFFFF"/>
          </a:solidFill>
          <a:ln w="6350">
            <a:solidFill>
              <a:srgbClr val="E0DDD5"/>
            </a:solidFill>
            <a:prstDash val="solid"/>
          </a:ln>
        </p:spPr>
      </p:sp>
      <p:sp>
        <p:nvSpPr>
          <p:cNvPr id="14" name="Shape 12"/>
          <p:cNvSpPr/>
          <p:nvPr/>
        </p:nvSpPr>
        <p:spPr>
          <a:xfrm>
            <a:off x="365760" y="2514600"/>
            <a:ext cx="2651760" cy="274320"/>
          </a:xfrm>
          <a:prstGeom prst="rect">
            <a:avLst/>
          </a:prstGeom>
          <a:solidFill>
            <a:srgbClr val="C0392B"/>
          </a:solidFill>
          <a:ln/>
        </p:spPr>
      </p:sp>
      <p:sp>
        <p:nvSpPr>
          <p:cNvPr id="15" name="Text 13"/>
          <p:cNvSpPr/>
          <p:nvPr/>
        </p:nvSpPr>
        <p:spPr>
          <a:xfrm>
            <a:off x="438912" y="2532888"/>
            <a:ext cx="246888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Parish Court Records</a:t>
            </a:r>
            <a:endParaRPr lang="en-US" sz="1100" dirty="0"/>
          </a:p>
        </p:txBody>
      </p:sp>
      <p:sp>
        <p:nvSpPr>
          <p:cNvPr id="16" name="Text 14"/>
          <p:cNvSpPr/>
          <p:nvPr/>
        </p:nvSpPr>
        <p:spPr>
          <a:xfrm>
            <a:off x="438912" y="2816352"/>
            <a:ext cx="2468880" cy="182880"/>
          </a:xfrm>
          <a:prstGeom prst="rect">
            <a:avLst/>
          </a:prstGeom>
          <a:noFill/>
          <a:ln/>
        </p:spPr>
        <p:txBody>
          <a:bodyPr wrap="square" rtlCol="0" anchor="ctr"/>
          <a:lstStyle/>
          <a:p>
            <a:pPr indent="0" marL="0">
              <a:buNone/>
            </a:pPr>
            <a:r>
              <a:rPr lang="en-US" sz="800" spc="100" kern="0" dirty="0">
                <a:solidFill>
                  <a:srgbClr val="777788"/>
                </a:solidFill>
                <a:latin typeface="Calibri" pitchFamily="34" charset="0"/>
                <a:ea typeface="Calibri" pitchFamily="34" charset="-122"/>
                <a:cs typeface="Calibri" pitchFamily="34" charset="-120"/>
              </a:rPr>
              <a:t>NATIONAL ARCHIVES OF ESTONIA</a:t>
            </a:r>
            <a:endParaRPr lang="en-US" sz="800" dirty="0"/>
          </a:p>
        </p:txBody>
      </p:sp>
      <p:sp>
        <p:nvSpPr>
          <p:cNvPr id="17" name="Text 15"/>
          <p:cNvSpPr/>
          <p:nvPr/>
        </p:nvSpPr>
        <p:spPr>
          <a:xfrm>
            <a:off x="457200" y="3035808"/>
            <a:ext cx="2487168" cy="1737360"/>
          </a:xfrm>
          <a:prstGeom prst="rect">
            <a:avLst/>
          </a:prstGeom>
          <a:noFill/>
          <a:ln/>
        </p:spPr>
        <p:txBody>
          <a:bodyPr wrap="square" rtlCol="0" anchor="ctr"/>
          <a:lstStyle/>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Names in HTML &lt;person&gt; tags and structured jury role strings</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Fields: id, text, jury, year, county (maakond), parish (kihelkond), municipality (vald), case type</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~7 name occurrences per record on average</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Cases include: loan disputes, land &amp; buildings, property crimes, insults &amp; violence, family law</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Challenge: German orthography — Jürri, Maddis, Tönno, Johann</a:t>
            </a:r>
            <a:endParaRPr lang="en-US" sz="900" dirty="0"/>
          </a:p>
        </p:txBody>
      </p:sp>
      <p:sp>
        <p:nvSpPr>
          <p:cNvPr id="18" name="Shape 16"/>
          <p:cNvSpPr/>
          <p:nvPr/>
        </p:nvSpPr>
        <p:spPr>
          <a:xfrm>
            <a:off x="3291840" y="2514600"/>
            <a:ext cx="2651760" cy="2377440"/>
          </a:xfrm>
          <a:prstGeom prst="rect">
            <a:avLst/>
          </a:prstGeom>
          <a:solidFill>
            <a:srgbClr val="FFFFFF"/>
          </a:solidFill>
          <a:ln w="6350">
            <a:solidFill>
              <a:srgbClr val="E0DDD5"/>
            </a:solidFill>
            <a:prstDash val="solid"/>
          </a:ln>
        </p:spPr>
      </p:sp>
      <p:sp>
        <p:nvSpPr>
          <p:cNvPr id="19" name="Shape 17"/>
          <p:cNvSpPr/>
          <p:nvPr/>
        </p:nvSpPr>
        <p:spPr>
          <a:xfrm>
            <a:off x="3291840" y="2514600"/>
            <a:ext cx="2651760" cy="274320"/>
          </a:xfrm>
          <a:prstGeom prst="rect">
            <a:avLst/>
          </a:prstGeom>
          <a:solidFill>
            <a:srgbClr val="2471A3"/>
          </a:solidFill>
          <a:ln/>
        </p:spPr>
      </p:sp>
      <p:sp>
        <p:nvSpPr>
          <p:cNvPr id="20" name="Text 18"/>
          <p:cNvSpPr/>
          <p:nvPr/>
        </p:nvSpPr>
        <p:spPr>
          <a:xfrm>
            <a:off x="3364992" y="2532888"/>
            <a:ext cx="246888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ENB Books Dataset</a:t>
            </a:r>
            <a:endParaRPr lang="en-US" sz="1100" dirty="0"/>
          </a:p>
        </p:txBody>
      </p:sp>
      <p:sp>
        <p:nvSpPr>
          <p:cNvPr id="21" name="Text 19"/>
          <p:cNvSpPr/>
          <p:nvPr/>
        </p:nvSpPr>
        <p:spPr>
          <a:xfrm>
            <a:off x="3364992" y="2816352"/>
            <a:ext cx="2468880" cy="182880"/>
          </a:xfrm>
          <a:prstGeom prst="rect">
            <a:avLst/>
          </a:prstGeom>
          <a:noFill/>
          <a:ln/>
        </p:spPr>
        <p:txBody>
          <a:bodyPr wrap="square" rtlCol="0" anchor="ctr"/>
          <a:lstStyle/>
          <a:p>
            <a:pPr indent="0" marL="0">
              <a:buNone/>
            </a:pPr>
            <a:r>
              <a:rPr lang="en-US" sz="800" spc="100" kern="0" dirty="0">
                <a:solidFill>
                  <a:srgbClr val="777788"/>
                </a:solidFill>
                <a:latin typeface="Calibri" pitchFamily="34" charset="0"/>
                <a:ea typeface="Calibri" pitchFamily="34" charset="-122"/>
                <a:cs typeface="Calibri" pitchFamily="34" charset="-120"/>
              </a:rPr>
              <a:t>NATIONAL LIBRARY OF ESTONIA</a:t>
            </a:r>
            <a:endParaRPr lang="en-US" sz="800" dirty="0"/>
          </a:p>
        </p:txBody>
      </p:sp>
      <p:sp>
        <p:nvSpPr>
          <p:cNvPr id="22" name="Text 20"/>
          <p:cNvSpPr/>
          <p:nvPr/>
        </p:nvSpPr>
        <p:spPr>
          <a:xfrm>
            <a:off x="3383280" y="3035808"/>
            <a:ext cx="2487168" cy="1737360"/>
          </a:xfrm>
          <a:prstGeom prst="rect">
            <a:avLst/>
          </a:prstGeom>
          <a:noFill/>
          <a:ln/>
        </p:spPr>
        <p:txBody>
          <a:bodyPr wrap="square" rtlCol="0" anchor="ctr"/>
          <a:lstStyle/>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Creator and contributor fields: Lastname, Firstname (birth–death) [role]</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Fields include: publisher, publication place with lat/lon, language, topic keywords, fiction flag</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Covers all languages published in Estonia or about Estonians</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Challenge: creator field empty in 57% of records; contributor field used as primary</a:t>
            </a:r>
            <a:endParaRPr lang="en-US" sz="900" dirty="0"/>
          </a:p>
        </p:txBody>
      </p:sp>
      <p:sp>
        <p:nvSpPr>
          <p:cNvPr id="23" name="Shape 21"/>
          <p:cNvSpPr/>
          <p:nvPr/>
        </p:nvSpPr>
        <p:spPr>
          <a:xfrm>
            <a:off x="6217920" y="2514600"/>
            <a:ext cx="2651760" cy="2377440"/>
          </a:xfrm>
          <a:prstGeom prst="rect">
            <a:avLst/>
          </a:prstGeom>
          <a:solidFill>
            <a:srgbClr val="FFFFFF"/>
          </a:solidFill>
          <a:ln w="6350">
            <a:solidFill>
              <a:srgbClr val="E0DDD5"/>
            </a:solidFill>
            <a:prstDash val="solid"/>
          </a:ln>
        </p:spPr>
      </p:sp>
      <p:sp>
        <p:nvSpPr>
          <p:cNvPr id="24" name="Shape 22"/>
          <p:cNvSpPr/>
          <p:nvPr/>
        </p:nvSpPr>
        <p:spPr>
          <a:xfrm>
            <a:off x="6217920" y="2514600"/>
            <a:ext cx="2651760" cy="274320"/>
          </a:xfrm>
          <a:prstGeom prst="rect">
            <a:avLst/>
          </a:prstGeom>
          <a:solidFill>
            <a:srgbClr val="0F6E56"/>
          </a:solidFill>
          <a:ln/>
        </p:spPr>
      </p:sp>
      <p:sp>
        <p:nvSpPr>
          <p:cNvPr id="25" name="Text 23"/>
          <p:cNvSpPr/>
          <p:nvPr/>
        </p:nvSpPr>
        <p:spPr>
          <a:xfrm>
            <a:off x="6291072" y="2532888"/>
            <a:ext cx="246888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ENB Persons Dataset</a:t>
            </a:r>
            <a:endParaRPr lang="en-US" sz="1100" dirty="0"/>
          </a:p>
        </p:txBody>
      </p:sp>
      <p:sp>
        <p:nvSpPr>
          <p:cNvPr id="26" name="Text 24"/>
          <p:cNvSpPr/>
          <p:nvPr/>
        </p:nvSpPr>
        <p:spPr>
          <a:xfrm>
            <a:off x="6291072" y="2816352"/>
            <a:ext cx="2468880" cy="182880"/>
          </a:xfrm>
          <a:prstGeom prst="rect">
            <a:avLst/>
          </a:prstGeom>
          <a:noFill/>
          <a:ln/>
        </p:spPr>
        <p:txBody>
          <a:bodyPr wrap="square" rtlCol="0" anchor="ctr"/>
          <a:lstStyle/>
          <a:p>
            <a:pPr indent="0" marL="0">
              <a:buNone/>
            </a:pPr>
            <a:r>
              <a:rPr lang="en-US" sz="800" spc="100" kern="0" dirty="0">
                <a:solidFill>
                  <a:srgbClr val="777788"/>
                </a:solidFill>
                <a:latin typeface="Calibri" pitchFamily="34" charset="0"/>
                <a:ea typeface="Calibri" pitchFamily="34" charset="-122"/>
                <a:cs typeface="Calibri" pitchFamily="34" charset="-120"/>
              </a:rPr>
              <a:t>NATIONAL LIBRARY OF ESTONIA</a:t>
            </a:r>
            <a:endParaRPr lang="en-US" sz="800" dirty="0"/>
          </a:p>
        </p:txBody>
      </p:sp>
      <p:sp>
        <p:nvSpPr>
          <p:cNvPr id="27" name="Text 25"/>
          <p:cNvSpPr/>
          <p:nvPr/>
        </p:nvSpPr>
        <p:spPr>
          <a:xfrm>
            <a:off x="6309360" y="3035808"/>
            <a:ext cx="2487168" cy="1737360"/>
          </a:xfrm>
          <a:prstGeom prst="rect">
            <a:avLst/>
          </a:prstGeom>
          <a:noFill/>
          <a:ln/>
        </p:spPr>
        <p:txBody>
          <a:bodyPr wrap="square" rtlCol="0" anchor="ctr"/>
          <a:lstStyle/>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Canonical name, birth/death year, gender, profession, geographic ISO code</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Name variant forms — different orderings, transliterations</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Wikidata &amp; VIAF identifiers for 60% of persons</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~14,900 Estonian persons active 1750–1950 — the matching target pool</a:t>
            </a:r>
            <a:endParaRPr lang="en-US" sz="900" dirty="0"/>
          </a:p>
          <a:p>
            <a:pPr marL="342900" indent="-342900">
              <a:spcAft>
                <a:spcPts val="200"/>
              </a:spcAft>
              <a:buSzPct val="100000"/>
              <a:buChar char="•"/>
            </a:pPr>
            <a:r>
              <a:rPr lang="en-US" sz="900" dirty="0">
                <a:solidFill>
                  <a:srgbClr val="333344"/>
                </a:solidFill>
                <a:latin typeface="Calibri" pitchFamily="34" charset="0"/>
                <a:ea typeface="Calibri" pitchFamily="34" charset="-122"/>
                <a:cs typeface="Calibri" pitchFamily="34" charset="-120"/>
              </a:rPr>
              <a:t>Enriched with Wikidata: full dates, birthplace coordinates, Wikipedia sitelinks</a:t>
            </a:r>
            <a:endParaRPr lang="en-US" sz="900" dirty="0"/>
          </a:p>
        </p:txBody>
      </p:sp>
      <p:sp>
        <p:nvSpPr>
          <p:cNvPr id="28" name="Text 26"/>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DATA INSIGHTS</a:t>
            </a:r>
            <a:endParaRPr lang="en-US" sz="900" dirty="0"/>
          </a:p>
        </p:txBody>
      </p:sp>
      <p:sp>
        <p:nvSpPr>
          <p:cNvPr id="3" name="Text 1"/>
          <p:cNvSpPr/>
          <p:nvPr/>
        </p:nvSpPr>
        <p:spPr>
          <a:xfrm>
            <a:off x="457200" y="502920"/>
            <a:ext cx="8229600" cy="594360"/>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What the data reveals</a:t>
            </a:r>
            <a:endParaRPr lang="en-US" sz="3000" dirty="0"/>
          </a:p>
        </p:txBody>
      </p:sp>
      <p:graphicFrame>
        <p:nvGraphicFramePr>
          <p:cNvPr id="4" name="Chart 0" descr=""/>
          <p:cNvGraphicFramePr/>
          <p:nvPr/>
        </p:nvGraphicFramePr>
        <p:xfrm>
          <a:off x="365760" y="1234440"/>
          <a:ext cx="438912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846320" y="1234440"/>
          <a:ext cx="3931920" cy="25603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365760" y="3886200"/>
            <a:ext cx="8412480" cy="960120"/>
          </a:xfrm>
          <a:prstGeom prst="rect">
            <a:avLst/>
          </a:prstGeom>
          <a:solidFill>
            <a:srgbClr val="1E2440"/>
          </a:solidFill>
          <a:ln w="6350">
            <a:solidFill>
              <a:srgbClr val="2C3454"/>
            </a:solidFill>
            <a:prstDash val="solid"/>
          </a:ln>
        </p:spPr>
      </p:sp>
      <p:sp>
        <p:nvSpPr>
          <p:cNvPr id="7" name="Shape 3"/>
          <p:cNvSpPr/>
          <p:nvPr/>
        </p:nvSpPr>
        <p:spPr>
          <a:xfrm>
            <a:off x="365760" y="3886200"/>
            <a:ext cx="54864" cy="960120"/>
          </a:xfrm>
          <a:prstGeom prst="rect">
            <a:avLst/>
          </a:prstGeom>
          <a:solidFill>
            <a:srgbClr val="E67E22"/>
          </a:solidFill>
          <a:ln/>
        </p:spPr>
      </p:sp>
      <p:sp>
        <p:nvSpPr>
          <p:cNvPr id="8" name="Text 4"/>
          <p:cNvSpPr/>
          <p:nvPr/>
        </p:nvSpPr>
        <p:spPr>
          <a:xfrm>
            <a:off x="594360" y="3950208"/>
            <a:ext cx="3200400" cy="292608"/>
          </a:xfrm>
          <a:prstGeom prst="rect">
            <a:avLst/>
          </a:prstGeom>
          <a:noFill/>
          <a:ln/>
        </p:spPr>
        <p:txBody>
          <a:bodyPr wrap="square" rtlCol="0" anchor="ctr"/>
          <a:lstStyle/>
          <a:p>
            <a:pPr indent="0" marL="0">
              <a:buNone/>
            </a:pPr>
            <a:r>
              <a:rPr lang="en-US" sz="1300" b="1" dirty="0">
                <a:solidFill>
                  <a:srgbClr val="E67E22"/>
                </a:solidFill>
                <a:latin typeface="Georgia" pitchFamily="34" charset="0"/>
                <a:ea typeface="Georgia" pitchFamily="34" charset="-122"/>
                <a:cs typeface="Georgia" pitchFamily="34" charset="-120"/>
              </a:rPr>
              <a:t>The 20–30 year gap</a:t>
            </a:r>
            <a:endParaRPr lang="en-US" sz="1300" dirty="0"/>
          </a:p>
        </p:txBody>
      </p:sp>
      <p:sp>
        <p:nvSpPr>
          <p:cNvPr id="9" name="Text 5"/>
          <p:cNvSpPr/>
          <p:nvPr/>
        </p:nvSpPr>
        <p:spPr>
          <a:xfrm>
            <a:off x="594360" y="4251960"/>
            <a:ext cx="7955280" cy="530352"/>
          </a:xfrm>
          <a:prstGeom prst="rect">
            <a:avLst/>
          </a:prstGeom>
          <a:noFill/>
          <a:ln/>
        </p:spPr>
        <p:txBody>
          <a:bodyPr wrap="square" rtlCol="0" anchor="ctr"/>
          <a:lstStyle/>
          <a:p>
            <a:pPr indent="0" marL="0">
              <a:lnSpc>
                <a:spcPct val="120000"/>
              </a:lnSpc>
              <a:buNone/>
            </a:pPr>
            <a:r>
              <a:rPr lang="en-US" sz="1100" dirty="0">
                <a:solidFill>
                  <a:srgbClr val="D4D8E8"/>
                </a:solidFill>
                <a:latin typeface="Calibri" pitchFamily="34" charset="0"/>
                <a:ea typeface="Calibri" pitchFamily="34" charset="-122"/>
                <a:cs typeface="Calibri" pitchFamily="34" charset="-120"/>
              </a:rPr>
              <a:t>Court records peak in the 1880s. ENB publications accelerate from the 1900s onward. The gap between these two curves — roughly 20 to 30 years — is the Estonian National Awakening, measured in data. A community once defined by legal disputes becomes one defined by cultural production.</a:t>
            </a:r>
            <a:endParaRPr lang="en-US" sz="1100" dirty="0"/>
          </a:p>
        </p:txBody>
      </p:sp>
      <p:sp>
        <p:nvSpPr>
          <p:cNvPr id="10" name="Text 6"/>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DATA INSIGHTS</a:t>
            </a:r>
            <a:endParaRPr lang="en-US" sz="900" dirty="0"/>
          </a:p>
        </p:txBody>
      </p:sp>
      <p:sp>
        <p:nvSpPr>
          <p:cNvPr id="3" name="Text 1"/>
          <p:cNvSpPr/>
          <p:nvPr/>
        </p:nvSpPr>
        <p:spPr>
          <a:xfrm>
            <a:off x="457200" y="502920"/>
            <a:ext cx="8229600" cy="594360"/>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Patterns hidden in 3.99 million records</a:t>
            </a:r>
            <a:endParaRPr lang="en-US" sz="2800" dirty="0"/>
          </a:p>
        </p:txBody>
      </p:sp>
      <p:graphicFrame>
        <p:nvGraphicFramePr>
          <p:cNvPr id="4" name="Chart 0" descr=""/>
          <p:cNvGraphicFramePr/>
          <p:nvPr/>
        </p:nvGraphicFramePr>
        <p:xfrm>
          <a:off x="365760" y="1188720"/>
          <a:ext cx="384048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89120" y="1188720"/>
          <a:ext cx="4389120" cy="26517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365760" y="3931920"/>
            <a:ext cx="2651760" cy="960120"/>
          </a:xfrm>
          <a:prstGeom prst="rect">
            <a:avLst/>
          </a:prstGeom>
          <a:solidFill>
            <a:srgbClr val="FFFFFF"/>
          </a:solidFill>
          <a:ln w="6350">
            <a:solidFill>
              <a:srgbClr val="E0DDD5"/>
            </a:solidFill>
            <a:prstDash val="solid"/>
          </a:ln>
        </p:spPr>
      </p:sp>
      <p:sp>
        <p:nvSpPr>
          <p:cNvPr id="7" name="Shape 3"/>
          <p:cNvSpPr/>
          <p:nvPr/>
        </p:nvSpPr>
        <p:spPr>
          <a:xfrm>
            <a:off x="365760" y="3931920"/>
            <a:ext cx="45720" cy="960120"/>
          </a:xfrm>
          <a:prstGeom prst="rect">
            <a:avLst/>
          </a:prstGeom>
          <a:solidFill>
            <a:srgbClr val="0F6E56"/>
          </a:solidFill>
          <a:ln/>
        </p:spPr>
      </p:sp>
      <p:sp>
        <p:nvSpPr>
          <p:cNvPr id="8" name="Text 4"/>
          <p:cNvSpPr/>
          <p:nvPr/>
        </p:nvSpPr>
        <p:spPr>
          <a:xfrm>
            <a:off x="502920" y="3959352"/>
            <a:ext cx="2377440" cy="256032"/>
          </a:xfrm>
          <a:prstGeom prst="rect">
            <a:avLst/>
          </a:prstGeom>
          <a:noFill/>
          <a:ln/>
        </p:spPr>
        <p:txBody>
          <a:bodyPr wrap="square"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Tartu leads both datasets</a:t>
            </a:r>
            <a:endParaRPr lang="en-US" sz="1100" dirty="0"/>
          </a:p>
        </p:txBody>
      </p:sp>
      <p:sp>
        <p:nvSpPr>
          <p:cNvPr id="9" name="Text 5"/>
          <p:cNvSpPr/>
          <p:nvPr/>
        </p:nvSpPr>
        <p:spPr>
          <a:xfrm>
            <a:off x="502920" y="4233672"/>
            <a:ext cx="2423160" cy="621792"/>
          </a:xfrm>
          <a:prstGeom prst="rect">
            <a:avLst/>
          </a:prstGeom>
          <a:noFill/>
          <a:ln/>
        </p:spPr>
        <p:txBody>
          <a:bodyPr wrap="square" rtlCol="0" anchor="ctr"/>
          <a:lstStyle/>
          <a:p>
            <a:pPr indent="0" marL="0">
              <a:lnSpc>
                <a:spcPct val="120000"/>
              </a:lnSpc>
              <a:buNone/>
            </a:pPr>
            <a:r>
              <a:rPr lang="en-US" sz="900" dirty="0">
                <a:solidFill>
                  <a:srgbClr val="555566"/>
                </a:solidFill>
                <a:latin typeface="Calibri" pitchFamily="34" charset="0"/>
                <a:ea typeface="Calibri" pitchFamily="34" charset="-122"/>
                <a:cs typeface="Calibri" pitchFamily="34" charset="-120"/>
              </a:rPr>
              <a:t>Tartu county dominates court records AND is the heart of Estonian publishing — the seat of the university and the National Awakening. The two datasets physically converge here.</a:t>
            </a:r>
            <a:endParaRPr lang="en-US" sz="900" dirty="0"/>
          </a:p>
        </p:txBody>
      </p:sp>
      <p:sp>
        <p:nvSpPr>
          <p:cNvPr id="10" name="Shape 6"/>
          <p:cNvSpPr/>
          <p:nvPr/>
        </p:nvSpPr>
        <p:spPr>
          <a:xfrm>
            <a:off x="3291840" y="3931920"/>
            <a:ext cx="2651760" cy="960120"/>
          </a:xfrm>
          <a:prstGeom prst="rect">
            <a:avLst/>
          </a:prstGeom>
          <a:solidFill>
            <a:srgbClr val="FFFFFF"/>
          </a:solidFill>
          <a:ln w="6350">
            <a:solidFill>
              <a:srgbClr val="E0DDD5"/>
            </a:solidFill>
            <a:prstDash val="solid"/>
          </a:ln>
        </p:spPr>
      </p:sp>
      <p:sp>
        <p:nvSpPr>
          <p:cNvPr id="11" name="Shape 7"/>
          <p:cNvSpPr/>
          <p:nvPr/>
        </p:nvSpPr>
        <p:spPr>
          <a:xfrm>
            <a:off x="3291840" y="3931920"/>
            <a:ext cx="45720" cy="960120"/>
          </a:xfrm>
          <a:prstGeom prst="rect">
            <a:avLst/>
          </a:prstGeom>
          <a:solidFill>
            <a:srgbClr val="C0392B"/>
          </a:solidFill>
          <a:ln/>
        </p:spPr>
      </p:sp>
      <p:sp>
        <p:nvSpPr>
          <p:cNvPr id="12" name="Text 8"/>
          <p:cNvSpPr/>
          <p:nvPr/>
        </p:nvSpPr>
        <p:spPr>
          <a:xfrm>
            <a:off x="3429000" y="3959352"/>
            <a:ext cx="2377440" cy="256032"/>
          </a:xfrm>
          <a:prstGeom prst="rect">
            <a:avLst/>
          </a:prstGeom>
          <a:noFill/>
          <a:ln/>
        </p:spPr>
        <p:txBody>
          <a:bodyPr wrap="square"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The most disputed concerns</a:t>
            </a:r>
            <a:endParaRPr lang="en-US" sz="1100" dirty="0"/>
          </a:p>
        </p:txBody>
      </p:sp>
      <p:sp>
        <p:nvSpPr>
          <p:cNvPr id="13" name="Text 9"/>
          <p:cNvSpPr/>
          <p:nvPr/>
        </p:nvSpPr>
        <p:spPr>
          <a:xfrm>
            <a:off x="3429000" y="4233672"/>
            <a:ext cx="2423160" cy="621792"/>
          </a:xfrm>
          <a:prstGeom prst="rect">
            <a:avLst/>
          </a:prstGeom>
          <a:noFill/>
          <a:ln/>
        </p:spPr>
        <p:txBody>
          <a:bodyPr wrap="square" rtlCol="0" anchor="ctr"/>
          <a:lstStyle/>
          <a:p>
            <a:pPr indent="0" marL="0">
              <a:lnSpc>
                <a:spcPct val="120000"/>
              </a:lnSpc>
              <a:buNone/>
            </a:pPr>
            <a:r>
              <a:rPr lang="en-US" sz="900" dirty="0">
                <a:solidFill>
                  <a:srgbClr val="555566"/>
                </a:solidFill>
                <a:latin typeface="Calibri" pitchFamily="34" charset="0"/>
                <a:ea typeface="Calibri" pitchFamily="34" charset="-122"/>
                <a:cs typeface="Calibri" pitchFamily="34" charset="-120"/>
              </a:rPr>
              <a:t>Loans, land, and property crimes dominate — the anxieties of a peasant economy. These are the same themes that early Estonian books began to address: land rights, farming, family law.</a:t>
            </a:r>
            <a:endParaRPr lang="en-US" sz="900" dirty="0"/>
          </a:p>
        </p:txBody>
      </p:sp>
      <p:sp>
        <p:nvSpPr>
          <p:cNvPr id="14" name="Shape 10"/>
          <p:cNvSpPr/>
          <p:nvPr/>
        </p:nvSpPr>
        <p:spPr>
          <a:xfrm>
            <a:off x="6217920" y="3931920"/>
            <a:ext cx="2651760" cy="960120"/>
          </a:xfrm>
          <a:prstGeom prst="rect">
            <a:avLst/>
          </a:prstGeom>
          <a:solidFill>
            <a:srgbClr val="FFFFFF"/>
          </a:solidFill>
          <a:ln w="6350">
            <a:solidFill>
              <a:srgbClr val="E0DDD5"/>
            </a:solidFill>
            <a:prstDash val="solid"/>
          </a:ln>
        </p:spPr>
      </p:sp>
      <p:sp>
        <p:nvSpPr>
          <p:cNvPr id="15" name="Shape 11"/>
          <p:cNvSpPr/>
          <p:nvPr/>
        </p:nvSpPr>
        <p:spPr>
          <a:xfrm>
            <a:off x="6217920" y="3931920"/>
            <a:ext cx="45720" cy="960120"/>
          </a:xfrm>
          <a:prstGeom prst="rect">
            <a:avLst/>
          </a:prstGeom>
          <a:solidFill>
            <a:srgbClr val="E67E22"/>
          </a:solidFill>
          <a:ln/>
        </p:spPr>
      </p:sp>
      <p:sp>
        <p:nvSpPr>
          <p:cNvPr id="16" name="Text 12"/>
          <p:cNvSpPr/>
          <p:nvPr/>
        </p:nvSpPr>
        <p:spPr>
          <a:xfrm>
            <a:off x="6355080" y="3959352"/>
            <a:ext cx="2377440" cy="256032"/>
          </a:xfrm>
          <a:prstGeom prst="rect">
            <a:avLst/>
          </a:prstGeom>
          <a:noFill/>
          <a:ln/>
        </p:spPr>
        <p:txBody>
          <a:bodyPr wrap="square"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Names appear 7× per record</a:t>
            </a:r>
            <a:endParaRPr lang="en-US" sz="1100" dirty="0"/>
          </a:p>
        </p:txBody>
      </p:sp>
      <p:sp>
        <p:nvSpPr>
          <p:cNvPr id="17" name="Text 13"/>
          <p:cNvSpPr/>
          <p:nvPr/>
        </p:nvSpPr>
        <p:spPr>
          <a:xfrm>
            <a:off x="6355080" y="4233672"/>
            <a:ext cx="2423160" cy="621792"/>
          </a:xfrm>
          <a:prstGeom prst="rect">
            <a:avLst/>
          </a:prstGeom>
          <a:noFill/>
          <a:ln/>
        </p:spPr>
        <p:txBody>
          <a:bodyPr wrap="square" rtlCol="0" anchor="ctr"/>
          <a:lstStyle/>
          <a:p>
            <a:pPr indent="0" marL="0">
              <a:lnSpc>
                <a:spcPct val="120000"/>
              </a:lnSpc>
              <a:buNone/>
            </a:pPr>
            <a:r>
              <a:rPr lang="en-US" sz="900" dirty="0">
                <a:solidFill>
                  <a:srgbClr val="555566"/>
                </a:solidFill>
                <a:latin typeface="Calibri" pitchFamily="34" charset="0"/>
                <a:ea typeface="Calibri" pitchFamily="34" charset="-122"/>
                <a:cs typeface="Calibri" pitchFamily="34" charset="-120"/>
              </a:rPr>
              <a:t>On average 7 name occurrences per court session — defendants, witnesses, judges, clerks. Each record is a social snapshot of a community, not just a legal file.</a:t>
            </a:r>
            <a:endParaRPr lang="en-US" sz="900" dirty="0"/>
          </a:p>
        </p:txBody>
      </p:sp>
      <p:sp>
        <p:nvSpPr>
          <p:cNvPr id="18" name="Text 14"/>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F1A"/>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APPROACH</a:t>
            </a:r>
            <a:endParaRPr lang="en-US" sz="900" dirty="0"/>
          </a:p>
        </p:txBody>
      </p:sp>
      <p:sp>
        <p:nvSpPr>
          <p:cNvPr id="3" name="Text 1"/>
          <p:cNvSpPr/>
          <p:nvPr/>
        </p:nvSpPr>
        <p:spPr>
          <a:xfrm>
            <a:off x="457200" y="502920"/>
            <a:ext cx="822960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How we built it — five stages</a:t>
            </a:r>
            <a:endParaRPr lang="en-US" sz="3000" dirty="0"/>
          </a:p>
        </p:txBody>
      </p:sp>
      <p:sp>
        <p:nvSpPr>
          <p:cNvPr id="4" name="Shape 2"/>
          <p:cNvSpPr/>
          <p:nvPr/>
        </p:nvSpPr>
        <p:spPr>
          <a:xfrm>
            <a:off x="274320" y="1463040"/>
            <a:ext cx="1417320" cy="1005840"/>
          </a:xfrm>
          <a:prstGeom prst="rect">
            <a:avLst/>
          </a:prstGeom>
          <a:solidFill>
            <a:srgbClr val="1E2440"/>
          </a:solidFill>
          <a:ln w="12700">
            <a:solidFill>
              <a:srgbClr val="C0392B"/>
            </a:solidFill>
            <a:prstDash val="solid"/>
          </a:ln>
        </p:spPr>
      </p:sp>
      <p:sp>
        <p:nvSpPr>
          <p:cNvPr id="5" name="Shape 3"/>
          <p:cNvSpPr/>
          <p:nvPr/>
        </p:nvSpPr>
        <p:spPr>
          <a:xfrm>
            <a:off x="274320" y="1463040"/>
            <a:ext cx="1417320" cy="201168"/>
          </a:xfrm>
          <a:prstGeom prst="rect">
            <a:avLst/>
          </a:prstGeom>
          <a:solidFill>
            <a:srgbClr val="C0392B"/>
          </a:solidFill>
          <a:ln/>
        </p:spPr>
      </p:sp>
      <p:sp>
        <p:nvSpPr>
          <p:cNvPr id="6" name="Text 4"/>
          <p:cNvSpPr/>
          <p:nvPr/>
        </p:nvSpPr>
        <p:spPr>
          <a:xfrm>
            <a:off x="274320" y="1472184"/>
            <a:ext cx="1417320" cy="1828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Extract</a:t>
            </a:r>
            <a:endParaRPr lang="en-US" sz="1100" dirty="0"/>
          </a:p>
        </p:txBody>
      </p:sp>
      <p:sp>
        <p:nvSpPr>
          <p:cNvPr id="7" name="Text 5"/>
          <p:cNvSpPr/>
          <p:nvPr/>
        </p:nvSpPr>
        <p:spPr>
          <a:xfrm>
            <a:off x="320040" y="1719072"/>
            <a:ext cx="1325880" cy="685800"/>
          </a:xfrm>
          <a:prstGeom prst="rect">
            <a:avLst/>
          </a:prstGeom>
          <a:noFill/>
          <a:ln/>
        </p:spPr>
        <p:txBody>
          <a:bodyPr wrap="square" rtlCol="0" anchor="ctr"/>
          <a:lstStyle/>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HTML person tags</a:t>
            </a:r>
            <a:endParaRPr lang="en-US" sz="900" dirty="0"/>
          </a:p>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 jury role strings</a:t>
            </a:r>
            <a:endParaRPr lang="en-US" sz="900" dirty="0"/>
          </a:p>
        </p:txBody>
      </p:sp>
      <p:sp>
        <p:nvSpPr>
          <p:cNvPr id="8" name="Shape 6"/>
          <p:cNvSpPr/>
          <p:nvPr/>
        </p:nvSpPr>
        <p:spPr>
          <a:xfrm>
            <a:off x="1691640" y="1901952"/>
            <a:ext cx="201168" cy="13716"/>
          </a:xfrm>
          <a:prstGeom prst="rect">
            <a:avLst/>
          </a:prstGeom>
          <a:solidFill>
            <a:srgbClr val="9098B0"/>
          </a:solidFill>
          <a:ln/>
        </p:spPr>
      </p:sp>
      <p:sp>
        <p:nvSpPr>
          <p:cNvPr id="9" name="Text 7"/>
          <p:cNvSpPr/>
          <p:nvPr/>
        </p:nvSpPr>
        <p:spPr>
          <a:xfrm>
            <a:off x="1819656" y="1828800"/>
            <a:ext cx="164592" cy="182880"/>
          </a:xfrm>
          <a:prstGeom prst="rect">
            <a:avLst/>
          </a:prstGeom>
          <a:noFill/>
          <a:ln/>
        </p:spPr>
        <p:txBody>
          <a:bodyPr wrap="square" rtlCol="0" anchor="ctr"/>
          <a:lstStyle/>
          <a:p>
            <a:pPr algn="ctr" indent="0" marL="0">
              <a:buNone/>
            </a:pPr>
            <a:r>
              <a:rPr lang="en-US" sz="900" dirty="0">
                <a:solidFill>
                  <a:srgbClr val="9098B0"/>
                </a:solidFill>
              </a:rPr>
              <a:t>▶</a:t>
            </a:r>
            <a:endParaRPr lang="en-US" sz="900" dirty="0"/>
          </a:p>
        </p:txBody>
      </p:sp>
      <p:sp>
        <p:nvSpPr>
          <p:cNvPr id="10" name="Shape 8"/>
          <p:cNvSpPr/>
          <p:nvPr/>
        </p:nvSpPr>
        <p:spPr>
          <a:xfrm>
            <a:off x="1892808" y="1463040"/>
            <a:ext cx="1417320" cy="1005840"/>
          </a:xfrm>
          <a:prstGeom prst="rect">
            <a:avLst/>
          </a:prstGeom>
          <a:solidFill>
            <a:srgbClr val="1E2440"/>
          </a:solidFill>
          <a:ln w="12700">
            <a:solidFill>
              <a:srgbClr val="E67E22"/>
            </a:solidFill>
            <a:prstDash val="solid"/>
          </a:ln>
        </p:spPr>
      </p:sp>
      <p:sp>
        <p:nvSpPr>
          <p:cNvPr id="11" name="Shape 9"/>
          <p:cNvSpPr/>
          <p:nvPr/>
        </p:nvSpPr>
        <p:spPr>
          <a:xfrm>
            <a:off x="1892808" y="1463040"/>
            <a:ext cx="1417320" cy="201168"/>
          </a:xfrm>
          <a:prstGeom prst="rect">
            <a:avLst/>
          </a:prstGeom>
          <a:solidFill>
            <a:srgbClr val="E67E22"/>
          </a:solidFill>
          <a:ln/>
        </p:spPr>
      </p:sp>
      <p:sp>
        <p:nvSpPr>
          <p:cNvPr id="12" name="Text 10"/>
          <p:cNvSpPr/>
          <p:nvPr/>
        </p:nvSpPr>
        <p:spPr>
          <a:xfrm>
            <a:off x="1892808" y="1472184"/>
            <a:ext cx="1417320" cy="1828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Normalize</a:t>
            </a:r>
            <a:endParaRPr lang="en-US" sz="1100" dirty="0"/>
          </a:p>
        </p:txBody>
      </p:sp>
      <p:sp>
        <p:nvSpPr>
          <p:cNvPr id="13" name="Text 11"/>
          <p:cNvSpPr/>
          <p:nvPr/>
        </p:nvSpPr>
        <p:spPr>
          <a:xfrm>
            <a:off x="1938528" y="1719072"/>
            <a:ext cx="1325880" cy="685800"/>
          </a:xfrm>
          <a:prstGeom prst="rect">
            <a:avLst/>
          </a:prstGeom>
          <a:noFill/>
          <a:ln/>
        </p:spPr>
        <p:txBody>
          <a:bodyPr wrap="square" rtlCol="0" anchor="ctr"/>
          <a:lstStyle/>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German → Estonian</a:t>
            </a:r>
            <a:endParaRPr lang="en-US" sz="900" dirty="0"/>
          </a:p>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30+ name mappings</a:t>
            </a:r>
            <a:endParaRPr lang="en-US" sz="900" dirty="0"/>
          </a:p>
        </p:txBody>
      </p:sp>
      <p:sp>
        <p:nvSpPr>
          <p:cNvPr id="14" name="Shape 12"/>
          <p:cNvSpPr/>
          <p:nvPr/>
        </p:nvSpPr>
        <p:spPr>
          <a:xfrm>
            <a:off x="3310128" y="1901952"/>
            <a:ext cx="201168" cy="13716"/>
          </a:xfrm>
          <a:prstGeom prst="rect">
            <a:avLst/>
          </a:prstGeom>
          <a:solidFill>
            <a:srgbClr val="9098B0"/>
          </a:solidFill>
          <a:ln/>
        </p:spPr>
      </p:sp>
      <p:sp>
        <p:nvSpPr>
          <p:cNvPr id="15" name="Text 13"/>
          <p:cNvSpPr/>
          <p:nvPr/>
        </p:nvSpPr>
        <p:spPr>
          <a:xfrm>
            <a:off x="3438144" y="1828800"/>
            <a:ext cx="164592" cy="182880"/>
          </a:xfrm>
          <a:prstGeom prst="rect">
            <a:avLst/>
          </a:prstGeom>
          <a:noFill/>
          <a:ln/>
        </p:spPr>
        <p:txBody>
          <a:bodyPr wrap="square" rtlCol="0" anchor="ctr"/>
          <a:lstStyle/>
          <a:p>
            <a:pPr algn="ctr" indent="0" marL="0">
              <a:buNone/>
            </a:pPr>
            <a:r>
              <a:rPr lang="en-US" sz="900" dirty="0">
                <a:solidFill>
                  <a:srgbClr val="9098B0"/>
                </a:solidFill>
              </a:rPr>
              <a:t>▶</a:t>
            </a:r>
            <a:endParaRPr lang="en-US" sz="900" dirty="0"/>
          </a:p>
        </p:txBody>
      </p:sp>
      <p:sp>
        <p:nvSpPr>
          <p:cNvPr id="16" name="Shape 14"/>
          <p:cNvSpPr/>
          <p:nvPr/>
        </p:nvSpPr>
        <p:spPr>
          <a:xfrm>
            <a:off x="3511296" y="1463040"/>
            <a:ext cx="1417320" cy="1005840"/>
          </a:xfrm>
          <a:prstGeom prst="rect">
            <a:avLst/>
          </a:prstGeom>
          <a:solidFill>
            <a:srgbClr val="1E2440"/>
          </a:solidFill>
          <a:ln w="12700">
            <a:solidFill>
              <a:srgbClr val="2471A3"/>
            </a:solidFill>
            <a:prstDash val="solid"/>
          </a:ln>
        </p:spPr>
      </p:sp>
      <p:sp>
        <p:nvSpPr>
          <p:cNvPr id="17" name="Shape 15"/>
          <p:cNvSpPr/>
          <p:nvPr/>
        </p:nvSpPr>
        <p:spPr>
          <a:xfrm>
            <a:off x="3511296" y="1463040"/>
            <a:ext cx="1417320" cy="201168"/>
          </a:xfrm>
          <a:prstGeom prst="rect">
            <a:avLst/>
          </a:prstGeom>
          <a:solidFill>
            <a:srgbClr val="2471A3"/>
          </a:solidFill>
          <a:ln/>
        </p:spPr>
      </p:sp>
      <p:sp>
        <p:nvSpPr>
          <p:cNvPr id="18" name="Text 16"/>
          <p:cNvSpPr/>
          <p:nvPr/>
        </p:nvSpPr>
        <p:spPr>
          <a:xfrm>
            <a:off x="3511296" y="1472184"/>
            <a:ext cx="1417320" cy="1828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Index</a:t>
            </a:r>
            <a:endParaRPr lang="en-US" sz="1100" dirty="0"/>
          </a:p>
        </p:txBody>
      </p:sp>
      <p:sp>
        <p:nvSpPr>
          <p:cNvPr id="19" name="Text 17"/>
          <p:cNvSpPr/>
          <p:nvPr/>
        </p:nvSpPr>
        <p:spPr>
          <a:xfrm>
            <a:off x="3557016" y="1719072"/>
            <a:ext cx="1325880" cy="685800"/>
          </a:xfrm>
          <a:prstGeom prst="rect">
            <a:avLst/>
          </a:prstGeom>
          <a:noFill/>
          <a:ln/>
        </p:spPr>
        <p:txBody>
          <a:bodyPr wrap="square" rtlCol="0" anchor="ctr"/>
          <a:lstStyle/>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117,964 ENB persons</a:t>
            </a:r>
            <a:endParaRPr lang="en-US" sz="900" dirty="0"/>
          </a:p>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Era-filtered pool</a:t>
            </a:r>
            <a:endParaRPr lang="en-US" sz="900" dirty="0"/>
          </a:p>
        </p:txBody>
      </p:sp>
      <p:sp>
        <p:nvSpPr>
          <p:cNvPr id="20" name="Shape 18"/>
          <p:cNvSpPr/>
          <p:nvPr/>
        </p:nvSpPr>
        <p:spPr>
          <a:xfrm>
            <a:off x="4928616" y="1901952"/>
            <a:ext cx="201168" cy="13716"/>
          </a:xfrm>
          <a:prstGeom prst="rect">
            <a:avLst/>
          </a:prstGeom>
          <a:solidFill>
            <a:srgbClr val="9098B0"/>
          </a:solidFill>
          <a:ln/>
        </p:spPr>
      </p:sp>
      <p:sp>
        <p:nvSpPr>
          <p:cNvPr id="21" name="Text 19"/>
          <p:cNvSpPr/>
          <p:nvPr/>
        </p:nvSpPr>
        <p:spPr>
          <a:xfrm>
            <a:off x="5056632" y="1828800"/>
            <a:ext cx="164592" cy="182880"/>
          </a:xfrm>
          <a:prstGeom prst="rect">
            <a:avLst/>
          </a:prstGeom>
          <a:noFill/>
          <a:ln/>
        </p:spPr>
        <p:txBody>
          <a:bodyPr wrap="square" rtlCol="0" anchor="ctr"/>
          <a:lstStyle/>
          <a:p>
            <a:pPr algn="ctr" indent="0" marL="0">
              <a:buNone/>
            </a:pPr>
            <a:r>
              <a:rPr lang="en-US" sz="900" dirty="0">
                <a:solidFill>
                  <a:srgbClr val="9098B0"/>
                </a:solidFill>
              </a:rPr>
              <a:t>▶</a:t>
            </a:r>
            <a:endParaRPr lang="en-US" sz="900" dirty="0"/>
          </a:p>
        </p:txBody>
      </p:sp>
      <p:sp>
        <p:nvSpPr>
          <p:cNvPr id="22" name="Shape 20"/>
          <p:cNvSpPr/>
          <p:nvPr/>
        </p:nvSpPr>
        <p:spPr>
          <a:xfrm>
            <a:off x="5129784" y="1463040"/>
            <a:ext cx="1417320" cy="1005840"/>
          </a:xfrm>
          <a:prstGeom prst="rect">
            <a:avLst/>
          </a:prstGeom>
          <a:solidFill>
            <a:srgbClr val="1E2440"/>
          </a:solidFill>
          <a:ln w="12700">
            <a:solidFill>
              <a:srgbClr val="0F6E56"/>
            </a:solidFill>
            <a:prstDash val="solid"/>
          </a:ln>
        </p:spPr>
      </p:sp>
      <p:sp>
        <p:nvSpPr>
          <p:cNvPr id="23" name="Shape 21"/>
          <p:cNvSpPr/>
          <p:nvPr/>
        </p:nvSpPr>
        <p:spPr>
          <a:xfrm>
            <a:off x="5129784" y="1463040"/>
            <a:ext cx="1417320" cy="201168"/>
          </a:xfrm>
          <a:prstGeom prst="rect">
            <a:avLst/>
          </a:prstGeom>
          <a:solidFill>
            <a:srgbClr val="0F6E56"/>
          </a:solidFill>
          <a:ln/>
        </p:spPr>
      </p:sp>
      <p:sp>
        <p:nvSpPr>
          <p:cNvPr id="24" name="Text 22"/>
          <p:cNvSpPr/>
          <p:nvPr/>
        </p:nvSpPr>
        <p:spPr>
          <a:xfrm>
            <a:off x="5129784" y="1472184"/>
            <a:ext cx="1417320" cy="1828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Disambiguate</a:t>
            </a:r>
            <a:endParaRPr lang="en-US" sz="1100" dirty="0"/>
          </a:p>
        </p:txBody>
      </p:sp>
      <p:sp>
        <p:nvSpPr>
          <p:cNvPr id="25" name="Text 23"/>
          <p:cNvSpPr/>
          <p:nvPr/>
        </p:nvSpPr>
        <p:spPr>
          <a:xfrm>
            <a:off x="5175504" y="1719072"/>
            <a:ext cx="1325880" cy="685800"/>
          </a:xfrm>
          <a:prstGeom prst="rect">
            <a:avLst/>
          </a:prstGeom>
          <a:noFill/>
          <a:ln/>
        </p:spPr>
        <p:txBody>
          <a:bodyPr wrap="square" rtlCol="0" anchor="ctr"/>
          <a:lstStyle/>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5-signal confidence</a:t>
            </a:r>
            <a:endParaRPr lang="en-US" sz="900" dirty="0"/>
          </a:p>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scoring engine</a:t>
            </a:r>
            <a:endParaRPr lang="en-US" sz="900" dirty="0"/>
          </a:p>
        </p:txBody>
      </p:sp>
      <p:sp>
        <p:nvSpPr>
          <p:cNvPr id="26" name="Shape 24"/>
          <p:cNvSpPr/>
          <p:nvPr/>
        </p:nvSpPr>
        <p:spPr>
          <a:xfrm>
            <a:off x="6547104" y="1901952"/>
            <a:ext cx="201168" cy="13716"/>
          </a:xfrm>
          <a:prstGeom prst="rect">
            <a:avLst/>
          </a:prstGeom>
          <a:solidFill>
            <a:srgbClr val="9098B0"/>
          </a:solidFill>
          <a:ln/>
        </p:spPr>
      </p:sp>
      <p:sp>
        <p:nvSpPr>
          <p:cNvPr id="27" name="Text 25"/>
          <p:cNvSpPr/>
          <p:nvPr/>
        </p:nvSpPr>
        <p:spPr>
          <a:xfrm>
            <a:off x="6675120" y="1828800"/>
            <a:ext cx="164592" cy="182880"/>
          </a:xfrm>
          <a:prstGeom prst="rect">
            <a:avLst/>
          </a:prstGeom>
          <a:noFill/>
          <a:ln/>
        </p:spPr>
        <p:txBody>
          <a:bodyPr wrap="square" rtlCol="0" anchor="ctr"/>
          <a:lstStyle/>
          <a:p>
            <a:pPr algn="ctr" indent="0" marL="0">
              <a:buNone/>
            </a:pPr>
            <a:r>
              <a:rPr lang="en-US" sz="900" dirty="0">
                <a:solidFill>
                  <a:srgbClr val="9098B0"/>
                </a:solidFill>
              </a:rPr>
              <a:t>▶</a:t>
            </a:r>
            <a:endParaRPr lang="en-US" sz="900" dirty="0"/>
          </a:p>
        </p:txBody>
      </p:sp>
      <p:sp>
        <p:nvSpPr>
          <p:cNvPr id="28" name="Shape 26"/>
          <p:cNvSpPr/>
          <p:nvPr/>
        </p:nvSpPr>
        <p:spPr>
          <a:xfrm>
            <a:off x="6748272" y="1463040"/>
            <a:ext cx="1417320" cy="1005840"/>
          </a:xfrm>
          <a:prstGeom prst="rect">
            <a:avLst/>
          </a:prstGeom>
          <a:solidFill>
            <a:srgbClr val="1E2440"/>
          </a:solidFill>
          <a:ln w="12700">
            <a:solidFill>
              <a:srgbClr val="8E44AD"/>
            </a:solidFill>
            <a:prstDash val="solid"/>
          </a:ln>
        </p:spPr>
      </p:sp>
      <p:sp>
        <p:nvSpPr>
          <p:cNvPr id="29" name="Shape 27"/>
          <p:cNvSpPr/>
          <p:nvPr/>
        </p:nvSpPr>
        <p:spPr>
          <a:xfrm>
            <a:off x="6748272" y="1463040"/>
            <a:ext cx="1417320" cy="201168"/>
          </a:xfrm>
          <a:prstGeom prst="rect">
            <a:avLst/>
          </a:prstGeom>
          <a:solidFill>
            <a:srgbClr val="8E44AD"/>
          </a:solidFill>
          <a:ln/>
        </p:spPr>
      </p:sp>
      <p:sp>
        <p:nvSpPr>
          <p:cNvPr id="30" name="Text 28"/>
          <p:cNvSpPr/>
          <p:nvPr/>
        </p:nvSpPr>
        <p:spPr>
          <a:xfrm>
            <a:off x="6748272" y="1472184"/>
            <a:ext cx="1417320" cy="1828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31" name="Text 29"/>
          <p:cNvSpPr/>
          <p:nvPr/>
        </p:nvSpPr>
        <p:spPr>
          <a:xfrm>
            <a:off x="6793992" y="1719072"/>
            <a:ext cx="1325880" cy="685800"/>
          </a:xfrm>
          <a:prstGeom prst="rect">
            <a:avLst/>
          </a:prstGeom>
          <a:noFill/>
          <a:ln/>
        </p:spPr>
        <p:txBody>
          <a:bodyPr wrap="square" rtlCol="0" anchor="ctr"/>
          <a:lstStyle/>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3 CSV datasets</a:t>
            </a:r>
            <a:endParaRPr lang="en-US" sz="900" dirty="0"/>
          </a:p>
          <a:p>
            <a:pPr algn="ctr" indent="0" marL="0">
              <a:lnSpc>
                <a:spcPct val="130000"/>
              </a:lnSpc>
              <a:buNone/>
            </a:pPr>
            <a:r>
              <a:rPr lang="en-US" sz="900" dirty="0">
                <a:solidFill>
                  <a:srgbClr val="D4D8E8"/>
                </a:solidFill>
                <a:latin typeface="Calibri" pitchFamily="34" charset="0"/>
                <a:ea typeface="Calibri" pitchFamily="34" charset="-122"/>
                <a:cs typeface="Calibri" pitchFamily="34" charset="-120"/>
              </a:rPr>
              <a:t>+ Wikidata enrichment</a:t>
            </a:r>
            <a:endParaRPr lang="en-US" sz="900" dirty="0"/>
          </a:p>
        </p:txBody>
      </p:sp>
      <p:sp>
        <p:nvSpPr>
          <p:cNvPr id="32" name="Text 30"/>
          <p:cNvSpPr/>
          <p:nvPr/>
        </p:nvSpPr>
        <p:spPr>
          <a:xfrm>
            <a:off x="274320" y="1188720"/>
            <a:ext cx="1645920" cy="201168"/>
          </a:xfrm>
          <a:prstGeom prst="rect">
            <a:avLst/>
          </a:prstGeom>
          <a:noFill/>
          <a:ln/>
        </p:spPr>
        <p:txBody>
          <a:bodyPr wrap="square" rtlCol="0" anchor="ctr"/>
          <a:lstStyle/>
          <a:p>
            <a:pPr algn="ctr" indent="0" marL="0">
              <a:buNone/>
            </a:pPr>
            <a:r>
              <a:rPr lang="en-US" sz="900" dirty="0">
                <a:solidFill>
                  <a:srgbClr val="9098B0"/>
                </a:solidFill>
                <a:latin typeface="Calibri" pitchFamily="34" charset="0"/>
                <a:ea typeface="Calibri" pitchFamily="34" charset="-122"/>
                <a:cs typeface="Calibri" pitchFamily="34" charset="-120"/>
              </a:rPr>
              <a:t>3.99M records</a:t>
            </a:r>
            <a:endParaRPr lang="en-US" sz="900" dirty="0"/>
          </a:p>
        </p:txBody>
      </p:sp>
      <p:sp>
        <p:nvSpPr>
          <p:cNvPr id="33" name="Text 31"/>
          <p:cNvSpPr/>
          <p:nvPr/>
        </p:nvSpPr>
        <p:spPr>
          <a:xfrm>
            <a:off x="2651760" y="1188720"/>
            <a:ext cx="1645920" cy="201168"/>
          </a:xfrm>
          <a:prstGeom prst="rect">
            <a:avLst/>
          </a:prstGeom>
          <a:noFill/>
          <a:ln/>
        </p:spPr>
        <p:txBody>
          <a:bodyPr wrap="square" rtlCol="0" anchor="ctr"/>
          <a:lstStyle/>
          <a:p>
            <a:pPr algn="ctr" indent="0" marL="0">
              <a:buNone/>
            </a:pPr>
            <a:r>
              <a:rPr lang="en-US" sz="900" dirty="0">
                <a:solidFill>
                  <a:srgbClr val="9098B0"/>
                </a:solidFill>
                <a:latin typeface="Calibri" pitchFamily="34" charset="0"/>
                <a:ea typeface="Calibri" pitchFamily="34" charset="-122"/>
                <a:cs typeface="Calibri" pitchFamily="34" charset="-120"/>
              </a:rPr>
              <a:t>117,964 persons</a:t>
            </a:r>
            <a:endParaRPr lang="en-US" sz="900" dirty="0"/>
          </a:p>
        </p:txBody>
      </p:sp>
      <p:sp>
        <p:nvSpPr>
          <p:cNvPr id="34" name="Text 32"/>
          <p:cNvSpPr/>
          <p:nvPr/>
        </p:nvSpPr>
        <p:spPr>
          <a:xfrm>
            <a:off x="274320" y="2606040"/>
            <a:ext cx="1645920" cy="201168"/>
          </a:xfrm>
          <a:prstGeom prst="rect">
            <a:avLst/>
          </a:prstGeom>
          <a:noFill/>
          <a:ln/>
        </p:spPr>
        <p:txBody>
          <a:bodyPr wrap="square" rtlCol="0" anchor="ctr"/>
          <a:lstStyle/>
          <a:p>
            <a:pPr algn="ctr" indent="0" marL="0">
              <a:buNone/>
            </a:pPr>
            <a:r>
              <a:rPr lang="en-US" sz="900" dirty="0">
                <a:solidFill>
                  <a:srgbClr val="9098B0"/>
                </a:solidFill>
                <a:latin typeface="Calibri" pitchFamily="34" charset="0"/>
                <a:ea typeface="Calibri" pitchFamily="34" charset="-122"/>
                <a:cs typeface="Calibri" pitchFamily="34" charset="-120"/>
              </a:rPr>
              <a:t>~7 names / record</a:t>
            </a:r>
            <a:endParaRPr lang="en-US" sz="900" dirty="0"/>
          </a:p>
        </p:txBody>
      </p:sp>
      <p:sp>
        <p:nvSpPr>
          <p:cNvPr id="35" name="Text 33"/>
          <p:cNvSpPr/>
          <p:nvPr/>
        </p:nvSpPr>
        <p:spPr>
          <a:xfrm>
            <a:off x="5029200" y="2606040"/>
            <a:ext cx="1645920" cy="201168"/>
          </a:xfrm>
          <a:prstGeom prst="rect">
            <a:avLst/>
          </a:prstGeom>
          <a:noFill/>
          <a:ln/>
        </p:spPr>
        <p:txBody>
          <a:bodyPr wrap="square" rtlCol="0" anchor="ctr"/>
          <a:lstStyle/>
          <a:p>
            <a:pPr algn="ctr" indent="0" marL="0">
              <a:buNone/>
            </a:pPr>
            <a:r>
              <a:rPr lang="en-US" sz="900" dirty="0">
                <a:solidFill>
                  <a:srgbClr val="9098B0"/>
                </a:solidFill>
                <a:latin typeface="Calibri" pitchFamily="34" charset="0"/>
                <a:ea typeface="Calibri" pitchFamily="34" charset="-122"/>
                <a:cs typeface="Calibri" pitchFamily="34" charset="-120"/>
              </a:rPr>
              <a:t>Confidence 0–1</a:t>
            </a:r>
            <a:endParaRPr lang="en-US" sz="900" dirty="0"/>
          </a:p>
        </p:txBody>
      </p:sp>
      <p:sp>
        <p:nvSpPr>
          <p:cNvPr id="36" name="Text 34"/>
          <p:cNvSpPr/>
          <p:nvPr/>
        </p:nvSpPr>
        <p:spPr>
          <a:xfrm>
            <a:off x="7452360" y="2606040"/>
            <a:ext cx="1645920" cy="201168"/>
          </a:xfrm>
          <a:prstGeom prst="rect">
            <a:avLst/>
          </a:prstGeom>
          <a:noFill/>
          <a:ln/>
        </p:spPr>
        <p:txBody>
          <a:bodyPr wrap="square" rtlCol="0" anchor="ctr"/>
          <a:lstStyle/>
          <a:p>
            <a:pPr algn="ctr" indent="0" marL="0">
              <a:buNone/>
            </a:pPr>
            <a:r>
              <a:rPr lang="en-US" sz="900" dirty="0">
                <a:solidFill>
                  <a:srgbClr val="9098B0"/>
                </a:solidFill>
                <a:latin typeface="Calibri" pitchFamily="34" charset="0"/>
                <a:ea typeface="Calibri" pitchFamily="34" charset="-122"/>
                <a:cs typeface="Calibri" pitchFamily="34" charset="-120"/>
              </a:rPr>
              <a:t>4M row slim CSV</a:t>
            </a:r>
            <a:endParaRPr lang="en-US" sz="900" dirty="0"/>
          </a:p>
        </p:txBody>
      </p:sp>
      <p:sp>
        <p:nvSpPr>
          <p:cNvPr id="37" name="Text 35"/>
          <p:cNvSpPr/>
          <p:nvPr/>
        </p:nvSpPr>
        <p:spPr>
          <a:xfrm>
            <a:off x="365760" y="2926080"/>
            <a:ext cx="1097280" cy="256032"/>
          </a:xfrm>
          <a:prstGeom prst="rect">
            <a:avLst/>
          </a:prstGeom>
          <a:noFill/>
          <a:ln/>
        </p:spPr>
        <p:txBody>
          <a:bodyPr wrap="square" rtlCol="0" anchor="ctr"/>
          <a:lstStyle/>
          <a:p>
            <a:pPr indent="0" marL="0">
              <a:buNone/>
            </a:pPr>
            <a:r>
              <a:rPr lang="en-US" sz="1000" b="1" dirty="0">
                <a:solidFill>
                  <a:srgbClr val="9098B0"/>
                </a:solidFill>
                <a:latin typeface="Calibri" pitchFamily="34" charset="0"/>
                <a:ea typeface="Calibri" pitchFamily="34" charset="-122"/>
                <a:cs typeface="Calibri" pitchFamily="34" charset="-120"/>
              </a:rPr>
              <a:t>Tools used:</a:t>
            </a:r>
            <a:endParaRPr lang="en-US" sz="1000" dirty="0"/>
          </a:p>
        </p:txBody>
      </p:sp>
      <p:sp>
        <p:nvSpPr>
          <p:cNvPr id="38" name="Shape 36"/>
          <p:cNvSpPr/>
          <p:nvPr/>
        </p:nvSpPr>
        <p:spPr>
          <a:xfrm>
            <a:off x="1508760" y="2926080"/>
            <a:ext cx="1060704" cy="256032"/>
          </a:xfrm>
          <a:prstGeom prst="rect">
            <a:avLst/>
          </a:prstGeom>
          <a:solidFill>
            <a:srgbClr val="1E2440"/>
          </a:solidFill>
          <a:ln w="6350">
            <a:solidFill>
              <a:srgbClr val="2C3454"/>
            </a:solidFill>
            <a:prstDash val="solid"/>
          </a:ln>
        </p:spPr>
      </p:sp>
      <p:sp>
        <p:nvSpPr>
          <p:cNvPr id="39" name="Text 37"/>
          <p:cNvSpPr/>
          <p:nvPr/>
        </p:nvSpPr>
        <p:spPr>
          <a:xfrm>
            <a:off x="1508760"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Python · pandas</a:t>
            </a:r>
            <a:endParaRPr lang="en-US" sz="850" dirty="0"/>
          </a:p>
        </p:txBody>
      </p:sp>
      <p:sp>
        <p:nvSpPr>
          <p:cNvPr id="40" name="Shape 38"/>
          <p:cNvSpPr/>
          <p:nvPr/>
        </p:nvSpPr>
        <p:spPr>
          <a:xfrm>
            <a:off x="2624328" y="2926080"/>
            <a:ext cx="1060704" cy="256032"/>
          </a:xfrm>
          <a:prstGeom prst="rect">
            <a:avLst/>
          </a:prstGeom>
          <a:solidFill>
            <a:srgbClr val="1E2440"/>
          </a:solidFill>
          <a:ln w="6350">
            <a:solidFill>
              <a:srgbClr val="2C3454"/>
            </a:solidFill>
            <a:prstDash val="solid"/>
          </a:ln>
        </p:spPr>
      </p:sp>
      <p:sp>
        <p:nvSpPr>
          <p:cNvPr id="41" name="Text 39"/>
          <p:cNvSpPr/>
          <p:nvPr/>
        </p:nvSpPr>
        <p:spPr>
          <a:xfrm>
            <a:off x="2624328"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rapidfuzz</a:t>
            </a:r>
            <a:endParaRPr lang="en-US" sz="850" dirty="0"/>
          </a:p>
        </p:txBody>
      </p:sp>
      <p:sp>
        <p:nvSpPr>
          <p:cNvPr id="42" name="Shape 40"/>
          <p:cNvSpPr/>
          <p:nvPr/>
        </p:nvSpPr>
        <p:spPr>
          <a:xfrm>
            <a:off x="3739896" y="2926080"/>
            <a:ext cx="1060704" cy="256032"/>
          </a:xfrm>
          <a:prstGeom prst="rect">
            <a:avLst/>
          </a:prstGeom>
          <a:solidFill>
            <a:srgbClr val="1E2440"/>
          </a:solidFill>
          <a:ln w="6350">
            <a:solidFill>
              <a:srgbClr val="2C3454"/>
            </a:solidFill>
            <a:prstDash val="solid"/>
          </a:ln>
        </p:spPr>
      </p:sp>
      <p:sp>
        <p:nvSpPr>
          <p:cNvPr id="43" name="Text 41"/>
          <p:cNvSpPr/>
          <p:nvPr/>
        </p:nvSpPr>
        <p:spPr>
          <a:xfrm>
            <a:off x="3739896"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BeautifulSoup</a:t>
            </a:r>
            <a:endParaRPr lang="en-US" sz="850" dirty="0"/>
          </a:p>
        </p:txBody>
      </p:sp>
      <p:sp>
        <p:nvSpPr>
          <p:cNvPr id="44" name="Shape 42"/>
          <p:cNvSpPr/>
          <p:nvPr/>
        </p:nvSpPr>
        <p:spPr>
          <a:xfrm>
            <a:off x="4855464" y="2926080"/>
            <a:ext cx="1060704" cy="256032"/>
          </a:xfrm>
          <a:prstGeom prst="rect">
            <a:avLst/>
          </a:prstGeom>
          <a:solidFill>
            <a:srgbClr val="1E2440"/>
          </a:solidFill>
          <a:ln w="6350">
            <a:solidFill>
              <a:srgbClr val="2C3454"/>
            </a:solidFill>
            <a:prstDash val="solid"/>
          </a:ln>
        </p:spPr>
      </p:sp>
      <p:sp>
        <p:nvSpPr>
          <p:cNvPr id="45" name="Text 43"/>
          <p:cNvSpPr/>
          <p:nvPr/>
        </p:nvSpPr>
        <p:spPr>
          <a:xfrm>
            <a:off x="4855464"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Wikidata SPARQL</a:t>
            </a:r>
            <a:endParaRPr lang="en-US" sz="850" dirty="0"/>
          </a:p>
        </p:txBody>
      </p:sp>
      <p:sp>
        <p:nvSpPr>
          <p:cNvPr id="46" name="Shape 44"/>
          <p:cNvSpPr/>
          <p:nvPr/>
        </p:nvSpPr>
        <p:spPr>
          <a:xfrm>
            <a:off x="5971032" y="2926080"/>
            <a:ext cx="1060704" cy="256032"/>
          </a:xfrm>
          <a:prstGeom prst="rect">
            <a:avLst/>
          </a:prstGeom>
          <a:solidFill>
            <a:srgbClr val="1E2440"/>
          </a:solidFill>
          <a:ln w="6350">
            <a:solidFill>
              <a:srgbClr val="2C3454"/>
            </a:solidFill>
            <a:prstDash val="solid"/>
          </a:ln>
        </p:spPr>
      </p:sp>
      <p:sp>
        <p:nvSpPr>
          <p:cNvPr id="47" name="Text 45"/>
          <p:cNvSpPr/>
          <p:nvPr/>
        </p:nvSpPr>
        <p:spPr>
          <a:xfrm>
            <a:off x="5971032"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Gradio</a:t>
            </a:r>
            <a:endParaRPr lang="en-US" sz="850" dirty="0"/>
          </a:p>
        </p:txBody>
      </p:sp>
      <p:sp>
        <p:nvSpPr>
          <p:cNvPr id="48" name="Shape 46"/>
          <p:cNvSpPr/>
          <p:nvPr/>
        </p:nvSpPr>
        <p:spPr>
          <a:xfrm>
            <a:off x="7086600" y="2926080"/>
            <a:ext cx="1060704" cy="256032"/>
          </a:xfrm>
          <a:prstGeom prst="rect">
            <a:avLst/>
          </a:prstGeom>
          <a:solidFill>
            <a:srgbClr val="1E2440"/>
          </a:solidFill>
          <a:ln w="6350">
            <a:solidFill>
              <a:srgbClr val="2C3454"/>
            </a:solidFill>
            <a:prstDash val="solid"/>
          </a:ln>
        </p:spPr>
      </p:sp>
      <p:sp>
        <p:nvSpPr>
          <p:cNvPr id="49" name="Text 47"/>
          <p:cNvSpPr/>
          <p:nvPr/>
        </p:nvSpPr>
        <p:spPr>
          <a:xfrm>
            <a:off x="7086600"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Plotly · Folium</a:t>
            </a:r>
            <a:endParaRPr lang="en-US" sz="850" dirty="0"/>
          </a:p>
        </p:txBody>
      </p:sp>
      <p:sp>
        <p:nvSpPr>
          <p:cNvPr id="50" name="Shape 48"/>
          <p:cNvSpPr/>
          <p:nvPr/>
        </p:nvSpPr>
        <p:spPr>
          <a:xfrm>
            <a:off x="8202168" y="2926080"/>
            <a:ext cx="1060704" cy="256032"/>
          </a:xfrm>
          <a:prstGeom prst="rect">
            <a:avLst/>
          </a:prstGeom>
          <a:solidFill>
            <a:srgbClr val="1E2440"/>
          </a:solidFill>
          <a:ln w="6350">
            <a:solidFill>
              <a:srgbClr val="2C3454"/>
            </a:solidFill>
            <a:prstDash val="solid"/>
          </a:ln>
        </p:spPr>
      </p:sp>
      <p:sp>
        <p:nvSpPr>
          <p:cNvPr id="51" name="Text 49"/>
          <p:cNvSpPr/>
          <p:nvPr/>
        </p:nvSpPr>
        <p:spPr>
          <a:xfrm>
            <a:off x="8202168" y="2926080"/>
            <a:ext cx="1060704" cy="256032"/>
          </a:xfrm>
          <a:prstGeom prst="rect">
            <a:avLst/>
          </a:prstGeom>
          <a:noFill/>
          <a:ln/>
        </p:spPr>
        <p:txBody>
          <a:bodyPr wrap="square" rtlCol="0" anchor="ctr"/>
          <a:lstStyle/>
          <a:p>
            <a:pPr algn="ctr" indent="0" marL="0">
              <a:buNone/>
            </a:pPr>
            <a:r>
              <a:rPr lang="en-US" sz="850" dirty="0">
                <a:solidFill>
                  <a:srgbClr val="D4D8E8"/>
                </a:solidFill>
                <a:latin typeface="Calibri" pitchFamily="34" charset="0"/>
                <a:ea typeface="Calibri" pitchFamily="34" charset="-122"/>
                <a:cs typeface="Calibri" pitchFamily="34" charset="-120"/>
              </a:rPr>
              <a:t>Google Colab + Drive</a:t>
            </a:r>
            <a:endParaRPr lang="en-US" sz="850" dirty="0"/>
          </a:p>
        </p:txBody>
      </p:sp>
      <p:sp>
        <p:nvSpPr>
          <p:cNvPr id="52" name="Shape 50"/>
          <p:cNvSpPr/>
          <p:nvPr/>
        </p:nvSpPr>
        <p:spPr>
          <a:xfrm>
            <a:off x="365760" y="3337560"/>
            <a:ext cx="8412480" cy="1508760"/>
          </a:xfrm>
          <a:prstGeom prst="rect">
            <a:avLst/>
          </a:prstGeom>
          <a:solidFill>
            <a:srgbClr val="1E2440"/>
          </a:solidFill>
          <a:ln w="6350">
            <a:solidFill>
              <a:srgbClr val="2C3454"/>
            </a:solidFill>
            <a:prstDash val="solid"/>
          </a:ln>
        </p:spPr>
      </p:sp>
      <p:sp>
        <p:nvSpPr>
          <p:cNvPr id="53" name="Text 51"/>
          <p:cNvSpPr/>
          <p:nvPr/>
        </p:nvSpPr>
        <p:spPr>
          <a:xfrm>
            <a:off x="548640" y="3401568"/>
            <a:ext cx="8046720" cy="274320"/>
          </a:xfrm>
          <a:prstGeom prst="rect">
            <a:avLst/>
          </a:prstGeom>
          <a:noFill/>
          <a:ln/>
        </p:spPr>
        <p:txBody>
          <a:bodyPr wrap="square"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Name Disambiguation — how the confidence score works</a:t>
            </a:r>
            <a:endParaRPr lang="en-US" sz="1200" dirty="0"/>
          </a:p>
        </p:txBody>
      </p:sp>
      <p:sp>
        <p:nvSpPr>
          <p:cNvPr id="54" name="Text 52"/>
          <p:cNvSpPr/>
          <p:nvPr/>
        </p:nvSpPr>
        <p:spPr>
          <a:xfrm>
            <a:off x="548640" y="3749040"/>
            <a:ext cx="2468880" cy="201168"/>
          </a:xfrm>
          <a:prstGeom prst="rect">
            <a:avLst/>
          </a:prstGeom>
          <a:noFill/>
          <a:ln/>
        </p:spPr>
        <p:txBody>
          <a:bodyPr wrap="square" rtlCol="0" anchor="ctr"/>
          <a:lstStyle/>
          <a:p>
            <a:pPr indent="0" marL="0">
              <a:buNone/>
            </a:pPr>
            <a:r>
              <a:rPr lang="en-US" sz="900" dirty="0">
                <a:solidFill>
                  <a:srgbClr val="D4D8E8"/>
                </a:solidFill>
                <a:latin typeface="Calibri" pitchFamily="34" charset="0"/>
                <a:ea typeface="Calibri" pitchFamily="34" charset="-122"/>
                <a:cs typeface="Calibri" pitchFamily="34" charset="-120"/>
              </a:rPr>
              <a:t>Exact normalized match</a:t>
            </a:r>
            <a:endParaRPr lang="en-US" sz="900" dirty="0"/>
          </a:p>
        </p:txBody>
      </p:sp>
      <p:sp>
        <p:nvSpPr>
          <p:cNvPr id="55" name="Text 53"/>
          <p:cNvSpPr/>
          <p:nvPr/>
        </p:nvSpPr>
        <p:spPr>
          <a:xfrm>
            <a:off x="3017520" y="3749040"/>
            <a:ext cx="457200" cy="201168"/>
          </a:xfrm>
          <a:prstGeom prst="rect">
            <a:avLst/>
          </a:prstGeom>
          <a:noFill/>
          <a:ln/>
        </p:spPr>
        <p:txBody>
          <a:bodyPr wrap="square" rtlCol="0" anchor="ctr"/>
          <a:lstStyle/>
          <a:p>
            <a:pPr algn="r" indent="0" marL="0">
              <a:buNone/>
            </a:pPr>
            <a:r>
              <a:rPr lang="en-US" sz="900" b="1" dirty="0">
                <a:solidFill>
                  <a:srgbClr val="C0392B"/>
                </a:solidFill>
                <a:latin typeface="Calibri" pitchFamily="34" charset="0"/>
                <a:ea typeface="Calibri" pitchFamily="34" charset="-122"/>
                <a:cs typeface="Calibri" pitchFamily="34" charset="-120"/>
              </a:rPr>
              <a:t>50%</a:t>
            </a:r>
            <a:endParaRPr lang="en-US" sz="900" dirty="0"/>
          </a:p>
        </p:txBody>
      </p:sp>
      <p:sp>
        <p:nvSpPr>
          <p:cNvPr id="56" name="Shape 54"/>
          <p:cNvSpPr/>
          <p:nvPr/>
        </p:nvSpPr>
        <p:spPr>
          <a:xfrm>
            <a:off x="4754880" y="3785616"/>
            <a:ext cx="3474720" cy="118872"/>
          </a:xfrm>
          <a:prstGeom prst="rect">
            <a:avLst/>
          </a:prstGeom>
          <a:solidFill>
            <a:srgbClr val="2C3454"/>
          </a:solidFill>
          <a:ln/>
        </p:spPr>
      </p:sp>
      <p:sp>
        <p:nvSpPr>
          <p:cNvPr id="57" name="Shape 55"/>
          <p:cNvSpPr/>
          <p:nvPr/>
        </p:nvSpPr>
        <p:spPr>
          <a:xfrm>
            <a:off x="4754880" y="3785616"/>
            <a:ext cx="3127248" cy="118872"/>
          </a:xfrm>
          <a:prstGeom prst="rect">
            <a:avLst/>
          </a:prstGeom>
          <a:solidFill>
            <a:srgbClr val="C0392B"/>
          </a:solidFill>
          <a:ln/>
        </p:spPr>
      </p:sp>
      <p:sp>
        <p:nvSpPr>
          <p:cNvPr id="58" name="Text 56"/>
          <p:cNvSpPr/>
          <p:nvPr/>
        </p:nvSpPr>
        <p:spPr>
          <a:xfrm>
            <a:off x="548640" y="3968496"/>
            <a:ext cx="2468880" cy="201168"/>
          </a:xfrm>
          <a:prstGeom prst="rect">
            <a:avLst/>
          </a:prstGeom>
          <a:noFill/>
          <a:ln/>
        </p:spPr>
        <p:txBody>
          <a:bodyPr wrap="square" rtlCol="0" anchor="ctr"/>
          <a:lstStyle/>
          <a:p>
            <a:pPr indent="0" marL="0">
              <a:buNone/>
            </a:pPr>
            <a:r>
              <a:rPr lang="en-US" sz="900" dirty="0">
                <a:solidFill>
                  <a:srgbClr val="D4D8E8"/>
                </a:solidFill>
                <a:latin typeface="Calibri" pitchFamily="34" charset="0"/>
                <a:ea typeface="Calibri" pitchFamily="34" charset="-122"/>
                <a:cs typeface="Calibri" pitchFamily="34" charset="-120"/>
              </a:rPr>
              <a:t>Fuzzy string match</a:t>
            </a:r>
            <a:endParaRPr lang="en-US" sz="900" dirty="0"/>
          </a:p>
        </p:txBody>
      </p:sp>
      <p:sp>
        <p:nvSpPr>
          <p:cNvPr id="59" name="Text 57"/>
          <p:cNvSpPr/>
          <p:nvPr/>
        </p:nvSpPr>
        <p:spPr>
          <a:xfrm>
            <a:off x="3017520" y="3968496"/>
            <a:ext cx="457200" cy="201168"/>
          </a:xfrm>
          <a:prstGeom prst="rect">
            <a:avLst/>
          </a:prstGeom>
          <a:noFill/>
          <a:ln/>
        </p:spPr>
        <p:txBody>
          <a:bodyPr wrap="square" rtlCol="0" anchor="ctr"/>
          <a:lstStyle/>
          <a:p>
            <a:pPr algn="r" indent="0" marL="0">
              <a:buNone/>
            </a:pPr>
            <a:r>
              <a:rPr lang="en-US" sz="900" b="1" dirty="0">
                <a:solidFill>
                  <a:srgbClr val="2471A3"/>
                </a:solidFill>
                <a:latin typeface="Calibri" pitchFamily="34" charset="0"/>
                <a:ea typeface="Calibri" pitchFamily="34" charset="-122"/>
                <a:cs typeface="Calibri" pitchFamily="34" charset="-120"/>
              </a:rPr>
              <a:t>25%</a:t>
            </a:r>
            <a:endParaRPr lang="en-US" sz="900" dirty="0"/>
          </a:p>
        </p:txBody>
      </p:sp>
      <p:sp>
        <p:nvSpPr>
          <p:cNvPr id="60" name="Shape 58"/>
          <p:cNvSpPr/>
          <p:nvPr/>
        </p:nvSpPr>
        <p:spPr>
          <a:xfrm>
            <a:off x="4754880" y="4005072"/>
            <a:ext cx="3474720" cy="118872"/>
          </a:xfrm>
          <a:prstGeom prst="rect">
            <a:avLst/>
          </a:prstGeom>
          <a:solidFill>
            <a:srgbClr val="2C3454"/>
          </a:solidFill>
          <a:ln/>
        </p:spPr>
      </p:sp>
      <p:sp>
        <p:nvSpPr>
          <p:cNvPr id="61" name="Shape 59"/>
          <p:cNvSpPr/>
          <p:nvPr/>
        </p:nvSpPr>
        <p:spPr>
          <a:xfrm>
            <a:off x="4754880" y="4005072"/>
            <a:ext cx="1563624" cy="118872"/>
          </a:xfrm>
          <a:prstGeom prst="rect">
            <a:avLst/>
          </a:prstGeom>
          <a:solidFill>
            <a:srgbClr val="2471A3"/>
          </a:solidFill>
          <a:ln/>
        </p:spPr>
      </p:sp>
      <p:sp>
        <p:nvSpPr>
          <p:cNvPr id="62" name="Text 60"/>
          <p:cNvSpPr/>
          <p:nvPr/>
        </p:nvSpPr>
        <p:spPr>
          <a:xfrm>
            <a:off x="548640" y="4187952"/>
            <a:ext cx="2468880" cy="201168"/>
          </a:xfrm>
          <a:prstGeom prst="rect">
            <a:avLst/>
          </a:prstGeom>
          <a:noFill/>
          <a:ln/>
        </p:spPr>
        <p:txBody>
          <a:bodyPr wrap="square" rtlCol="0" anchor="ctr"/>
          <a:lstStyle/>
          <a:p>
            <a:pPr indent="0" marL="0">
              <a:buNone/>
            </a:pPr>
            <a:r>
              <a:rPr lang="en-US" sz="900" dirty="0">
                <a:solidFill>
                  <a:srgbClr val="D4D8E8"/>
                </a:solidFill>
                <a:latin typeface="Calibri" pitchFamily="34" charset="0"/>
                <a:ea typeface="Calibri" pitchFamily="34" charset="-122"/>
                <a:cs typeface="Calibri" pitchFamily="34" charset="-120"/>
              </a:rPr>
              <a:t>Phonetic normalization</a:t>
            </a:r>
            <a:endParaRPr lang="en-US" sz="900" dirty="0"/>
          </a:p>
        </p:txBody>
      </p:sp>
      <p:sp>
        <p:nvSpPr>
          <p:cNvPr id="63" name="Text 61"/>
          <p:cNvSpPr/>
          <p:nvPr/>
        </p:nvSpPr>
        <p:spPr>
          <a:xfrm>
            <a:off x="3017520" y="4187952"/>
            <a:ext cx="457200" cy="201168"/>
          </a:xfrm>
          <a:prstGeom prst="rect">
            <a:avLst/>
          </a:prstGeom>
          <a:noFill/>
          <a:ln/>
        </p:spPr>
        <p:txBody>
          <a:bodyPr wrap="square" rtlCol="0" anchor="ctr"/>
          <a:lstStyle/>
          <a:p>
            <a:pPr algn="r" indent="0" marL="0">
              <a:buNone/>
            </a:pPr>
            <a:r>
              <a:rPr lang="en-US" sz="900" b="1" dirty="0">
                <a:solidFill>
                  <a:srgbClr val="E67E22"/>
                </a:solidFill>
                <a:latin typeface="Calibri" pitchFamily="34" charset="0"/>
                <a:ea typeface="Calibri" pitchFamily="34" charset="-122"/>
                <a:cs typeface="Calibri" pitchFamily="34" charset="-120"/>
              </a:rPr>
              <a:t>15%</a:t>
            </a:r>
            <a:endParaRPr lang="en-US" sz="900" dirty="0"/>
          </a:p>
        </p:txBody>
      </p:sp>
      <p:sp>
        <p:nvSpPr>
          <p:cNvPr id="64" name="Shape 62"/>
          <p:cNvSpPr/>
          <p:nvPr/>
        </p:nvSpPr>
        <p:spPr>
          <a:xfrm>
            <a:off x="4754880" y="4224528"/>
            <a:ext cx="3474720" cy="118872"/>
          </a:xfrm>
          <a:prstGeom prst="rect">
            <a:avLst/>
          </a:prstGeom>
          <a:solidFill>
            <a:srgbClr val="2C3454"/>
          </a:solidFill>
          <a:ln/>
        </p:spPr>
      </p:sp>
      <p:sp>
        <p:nvSpPr>
          <p:cNvPr id="65" name="Shape 63"/>
          <p:cNvSpPr/>
          <p:nvPr/>
        </p:nvSpPr>
        <p:spPr>
          <a:xfrm>
            <a:off x="4754880" y="4224528"/>
            <a:ext cx="938174" cy="118872"/>
          </a:xfrm>
          <a:prstGeom prst="rect">
            <a:avLst/>
          </a:prstGeom>
          <a:solidFill>
            <a:srgbClr val="E67E22"/>
          </a:solidFill>
          <a:ln/>
        </p:spPr>
      </p:sp>
      <p:sp>
        <p:nvSpPr>
          <p:cNvPr id="66" name="Text 64"/>
          <p:cNvSpPr/>
          <p:nvPr/>
        </p:nvSpPr>
        <p:spPr>
          <a:xfrm>
            <a:off x="548640" y="4407408"/>
            <a:ext cx="2468880" cy="201168"/>
          </a:xfrm>
          <a:prstGeom prst="rect">
            <a:avLst/>
          </a:prstGeom>
          <a:noFill/>
          <a:ln/>
        </p:spPr>
        <p:txBody>
          <a:bodyPr wrap="square" rtlCol="0" anchor="ctr"/>
          <a:lstStyle/>
          <a:p>
            <a:pPr indent="0" marL="0">
              <a:buNone/>
            </a:pPr>
            <a:r>
              <a:rPr lang="en-US" sz="900" dirty="0">
                <a:solidFill>
                  <a:srgbClr val="D4D8E8"/>
                </a:solidFill>
                <a:latin typeface="Calibri" pitchFamily="34" charset="0"/>
                <a:ea typeface="Calibri" pitchFamily="34" charset="-122"/>
                <a:cs typeface="Calibri" pitchFamily="34" charset="-120"/>
              </a:rPr>
              <a:t>Name variant match</a:t>
            </a:r>
            <a:endParaRPr lang="en-US" sz="900" dirty="0"/>
          </a:p>
        </p:txBody>
      </p:sp>
      <p:sp>
        <p:nvSpPr>
          <p:cNvPr id="67" name="Text 65"/>
          <p:cNvSpPr/>
          <p:nvPr/>
        </p:nvSpPr>
        <p:spPr>
          <a:xfrm>
            <a:off x="3017520" y="4407408"/>
            <a:ext cx="457200" cy="201168"/>
          </a:xfrm>
          <a:prstGeom prst="rect">
            <a:avLst/>
          </a:prstGeom>
          <a:noFill/>
          <a:ln/>
        </p:spPr>
        <p:txBody>
          <a:bodyPr wrap="square" rtlCol="0" anchor="ctr"/>
          <a:lstStyle/>
          <a:p>
            <a:pPr algn="r" indent="0" marL="0">
              <a:buNone/>
            </a:pPr>
            <a:r>
              <a:rPr lang="en-US" sz="900" b="1" dirty="0">
                <a:solidFill>
                  <a:srgbClr val="0F6E56"/>
                </a:solidFill>
                <a:latin typeface="Calibri" pitchFamily="34" charset="0"/>
                <a:ea typeface="Calibri" pitchFamily="34" charset="-122"/>
                <a:cs typeface="Calibri" pitchFamily="34" charset="-120"/>
              </a:rPr>
              <a:t>5%</a:t>
            </a:r>
            <a:endParaRPr lang="en-US" sz="900" dirty="0"/>
          </a:p>
        </p:txBody>
      </p:sp>
      <p:sp>
        <p:nvSpPr>
          <p:cNvPr id="68" name="Shape 66"/>
          <p:cNvSpPr/>
          <p:nvPr/>
        </p:nvSpPr>
        <p:spPr>
          <a:xfrm>
            <a:off x="4754880" y="4443984"/>
            <a:ext cx="3474720" cy="118872"/>
          </a:xfrm>
          <a:prstGeom prst="rect">
            <a:avLst/>
          </a:prstGeom>
          <a:solidFill>
            <a:srgbClr val="2C3454"/>
          </a:solidFill>
          <a:ln/>
        </p:spPr>
      </p:sp>
      <p:sp>
        <p:nvSpPr>
          <p:cNvPr id="69" name="Shape 67"/>
          <p:cNvSpPr/>
          <p:nvPr/>
        </p:nvSpPr>
        <p:spPr>
          <a:xfrm>
            <a:off x="4754880" y="4443984"/>
            <a:ext cx="312725" cy="118872"/>
          </a:xfrm>
          <a:prstGeom prst="rect">
            <a:avLst/>
          </a:prstGeom>
          <a:solidFill>
            <a:srgbClr val="0F6E56"/>
          </a:solidFill>
          <a:ln/>
        </p:spPr>
      </p:sp>
      <p:sp>
        <p:nvSpPr>
          <p:cNvPr id="70" name="Text 68"/>
          <p:cNvSpPr/>
          <p:nvPr/>
        </p:nvSpPr>
        <p:spPr>
          <a:xfrm>
            <a:off x="548640" y="4626864"/>
            <a:ext cx="2468880" cy="201168"/>
          </a:xfrm>
          <a:prstGeom prst="rect">
            <a:avLst/>
          </a:prstGeom>
          <a:noFill/>
          <a:ln/>
        </p:spPr>
        <p:txBody>
          <a:bodyPr wrap="square" rtlCol="0" anchor="ctr"/>
          <a:lstStyle/>
          <a:p>
            <a:pPr indent="0" marL="0">
              <a:buNone/>
            </a:pPr>
            <a:r>
              <a:rPr lang="en-US" sz="900" dirty="0">
                <a:solidFill>
                  <a:srgbClr val="D4D8E8"/>
                </a:solidFill>
                <a:latin typeface="Calibri" pitchFamily="34" charset="0"/>
                <a:ea typeface="Calibri" pitchFamily="34" charset="-122"/>
                <a:cs typeface="Calibri" pitchFamily="34" charset="-120"/>
              </a:rPr>
              <a:t>Estonian geography bonus</a:t>
            </a:r>
            <a:endParaRPr lang="en-US" sz="900" dirty="0"/>
          </a:p>
        </p:txBody>
      </p:sp>
      <p:sp>
        <p:nvSpPr>
          <p:cNvPr id="71" name="Text 69"/>
          <p:cNvSpPr/>
          <p:nvPr/>
        </p:nvSpPr>
        <p:spPr>
          <a:xfrm>
            <a:off x="3017520" y="4626864"/>
            <a:ext cx="457200" cy="201168"/>
          </a:xfrm>
          <a:prstGeom prst="rect">
            <a:avLst/>
          </a:prstGeom>
          <a:noFill/>
          <a:ln/>
        </p:spPr>
        <p:txBody>
          <a:bodyPr wrap="square" rtlCol="0" anchor="ctr"/>
          <a:lstStyle/>
          <a:p>
            <a:pPr algn="r" indent="0" marL="0">
              <a:buNone/>
            </a:pPr>
            <a:r>
              <a:rPr lang="en-US" sz="900" b="1" dirty="0">
                <a:solidFill>
                  <a:srgbClr val="8E44AD"/>
                </a:solidFill>
                <a:latin typeface="Calibri" pitchFamily="34" charset="0"/>
                <a:ea typeface="Calibri" pitchFamily="34" charset="-122"/>
                <a:cs typeface="Calibri" pitchFamily="34" charset="-120"/>
              </a:rPr>
              <a:t>5%</a:t>
            </a:r>
            <a:endParaRPr lang="en-US" sz="900" dirty="0"/>
          </a:p>
        </p:txBody>
      </p:sp>
      <p:sp>
        <p:nvSpPr>
          <p:cNvPr id="72" name="Shape 70"/>
          <p:cNvSpPr/>
          <p:nvPr/>
        </p:nvSpPr>
        <p:spPr>
          <a:xfrm>
            <a:off x="4754880" y="4663440"/>
            <a:ext cx="3474720" cy="118872"/>
          </a:xfrm>
          <a:prstGeom prst="rect">
            <a:avLst/>
          </a:prstGeom>
          <a:solidFill>
            <a:srgbClr val="2C3454"/>
          </a:solidFill>
          <a:ln/>
        </p:spPr>
      </p:sp>
      <p:sp>
        <p:nvSpPr>
          <p:cNvPr id="73" name="Shape 71"/>
          <p:cNvSpPr/>
          <p:nvPr/>
        </p:nvSpPr>
        <p:spPr>
          <a:xfrm>
            <a:off x="4754880" y="4663440"/>
            <a:ext cx="312725" cy="118872"/>
          </a:xfrm>
          <a:prstGeom prst="rect">
            <a:avLst/>
          </a:prstGeom>
          <a:solidFill>
            <a:srgbClr val="8E44AD"/>
          </a:solidFill>
          <a:ln/>
        </p:spPr>
      </p:sp>
      <p:sp>
        <p:nvSpPr>
          <p:cNvPr id="74" name="Text 72"/>
          <p:cNvSpPr/>
          <p:nvPr/>
        </p:nvSpPr>
        <p:spPr>
          <a:xfrm>
            <a:off x="548640" y="4864608"/>
            <a:ext cx="8229600" cy="201168"/>
          </a:xfrm>
          <a:prstGeom prst="rect">
            <a:avLst/>
          </a:prstGeom>
          <a:noFill/>
          <a:ln/>
        </p:spPr>
        <p:txBody>
          <a:bodyPr wrap="square" rtlCol="0" anchor="ctr"/>
          <a:lstStyle/>
          <a:p>
            <a:pPr indent="0" marL="0">
              <a:buNone/>
            </a:pPr>
            <a:r>
              <a:rPr lang="en-US" sz="850" i="1" dirty="0">
                <a:solidFill>
                  <a:srgbClr val="9098B0"/>
                </a:solidFill>
                <a:latin typeface="Calibri" pitchFamily="34" charset="0"/>
                <a:ea typeface="Calibri" pitchFamily="34" charset="-122"/>
                <a:cs typeface="Calibri" pitchFamily="34" charset="-120"/>
              </a:rPr>
              <a:t>Era penalty: score × 0.3 if court year falls outside person's plausible lifespan (birth + 10 to birth + 90 years)</a:t>
            </a:r>
            <a:endParaRPr lang="en-US" sz="850" dirty="0"/>
          </a:p>
        </p:txBody>
      </p:sp>
      <p:sp>
        <p:nvSpPr>
          <p:cNvPr id="75" name="Text 73"/>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F1A"/>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APPROACH — NAME NORMALIZATION</a:t>
            </a:r>
            <a:endParaRPr lang="en-US" sz="900" dirty="0"/>
          </a:p>
        </p:txBody>
      </p:sp>
      <p:sp>
        <p:nvSpPr>
          <p:cNvPr id="3" name="Text 1"/>
          <p:cNvSpPr/>
          <p:nvPr/>
        </p:nvSpPr>
        <p:spPr>
          <a:xfrm>
            <a:off x="457200" y="502920"/>
            <a:ext cx="822960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Bridging two centuries of spelling</a:t>
            </a:r>
            <a:endParaRPr lang="en-US" sz="3000" dirty="0"/>
          </a:p>
        </p:txBody>
      </p:sp>
      <p:sp>
        <p:nvSpPr>
          <p:cNvPr id="4" name="Text 2"/>
          <p:cNvSpPr/>
          <p:nvPr/>
        </p:nvSpPr>
        <p:spPr>
          <a:xfrm>
            <a:off x="457200" y="1234440"/>
            <a:ext cx="8321040" cy="640080"/>
          </a:xfrm>
          <a:prstGeom prst="rect">
            <a:avLst/>
          </a:prstGeom>
          <a:noFill/>
          <a:ln/>
        </p:spPr>
        <p:txBody>
          <a:bodyPr wrap="square" rtlCol="0" anchor="ctr"/>
          <a:lstStyle/>
          <a:p>
            <a:pPr indent="0" marL="0">
              <a:lnSpc>
                <a:spcPct val="135000"/>
              </a:lnSpc>
              <a:buNone/>
            </a:pPr>
            <a:r>
              <a:rPr lang="en-US" sz="1200" dirty="0">
                <a:solidFill>
                  <a:srgbClr val="D4D8E8"/>
                </a:solidFill>
                <a:latin typeface="Calibri" pitchFamily="34" charset="0"/>
                <a:ea typeface="Calibri" pitchFamily="34" charset="-122"/>
                <a:cs typeface="Calibri" pitchFamily="34" charset="-120"/>
              </a:rPr>
              <a:t>Court records used German orthography throughout the 19th century. The same Estonian person could appear as Jürri in 1855 and Jüri in 1895. The 1921 Name Estonianisation movement added a third layer — German surnames were replaced entirely with Estonian ones. Our engine handles all three transformations.</a:t>
            </a:r>
            <a:endParaRPr lang="en-US" sz="1200" dirty="0"/>
          </a:p>
        </p:txBody>
      </p:sp>
      <p:sp>
        <p:nvSpPr>
          <p:cNvPr id="5" name="Shape 3"/>
          <p:cNvSpPr/>
          <p:nvPr/>
        </p:nvSpPr>
        <p:spPr>
          <a:xfrm>
            <a:off x="365760" y="1965960"/>
            <a:ext cx="4069080" cy="420624"/>
          </a:xfrm>
          <a:prstGeom prst="rect">
            <a:avLst/>
          </a:prstGeom>
          <a:solidFill>
            <a:srgbClr val="1E2440"/>
          </a:solidFill>
          <a:ln w="3810">
            <a:solidFill>
              <a:srgbClr val="2C3454"/>
            </a:solidFill>
            <a:prstDash val="solid"/>
          </a:ln>
        </p:spPr>
      </p:sp>
      <p:sp>
        <p:nvSpPr>
          <p:cNvPr id="6" name="Text 4"/>
          <p:cNvSpPr/>
          <p:nvPr/>
        </p:nvSpPr>
        <p:spPr>
          <a:xfrm>
            <a:off x="475488" y="2048256"/>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Jürri</a:t>
            </a:r>
            <a:endParaRPr lang="en-US" sz="1300" dirty="0"/>
          </a:p>
        </p:txBody>
      </p:sp>
      <p:sp>
        <p:nvSpPr>
          <p:cNvPr id="7" name="Text 5"/>
          <p:cNvSpPr/>
          <p:nvPr/>
        </p:nvSpPr>
        <p:spPr>
          <a:xfrm>
            <a:off x="1508760" y="2048256"/>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8" name="Text 6"/>
          <p:cNvSpPr/>
          <p:nvPr/>
        </p:nvSpPr>
        <p:spPr>
          <a:xfrm>
            <a:off x="1783080" y="2048256"/>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Jüri</a:t>
            </a:r>
            <a:endParaRPr lang="en-US" sz="1300" dirty="0"/>
          </a:p>
        </p:txBody>
      </p:sp>
      <p:sp>
        <p:nvSpPr>
          <p:cNvPr id="9" name="Text 7"/>
          <p:cNvSpPr/>
          <p:nvPr/>
        </p:nvSpPr>
        <p:spPr>
          <a:xfrm>
            <a:off x="2834640" y="2066544"/>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Phonetic: ü+rr → ü+r</a:t>
            </a:r>
            <a:endParaRPr lang="en-US" sz="900" dirty="0"/>
          </a:p>
        </p:txBody>
      </p:sp>
      <p:sp>
        <p:nvSpPr>
          <p:cNvPr id="10" name="Shape 8"/>
          <p:cNvSpPr/>
          <p:nvPr/>
        </p:nvSpPr>
        <p:spPr>
          <a:xfrm>
            <a:off x="365760" y="2441448"/>
            <a:ext cx="4069080" cy="420624"/>
          </a:xfrm>
          <a:prstGeom prst="rect">
            <a:avLst/>
          </a:prstGeom>
          <a:solidFill>
            <a:srgbClr val="141929"/>
          </a:solidFill>
          <a:ln w="3810">
            <a:solidFill>
              <a:srgbClr val="2C3454"/>
            </a:solidFill>
            <a:prstDash val="solid"/>
          </a:ln>
        </p:spPr>
      </p:sp>
      <p:sp>
        <p:nvSpPr>
          <p:cNvPr id="11" name="Text 9"/>
          <p:cNvSpPr/>
          <p:nvPr/>
        </p:nvSpPr>
        <p:spPr>
          <a:xfrm>
            <a:off x="475488" y="2523744"/>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Johann</a:t>
            </a:r>
            <a:endParaRPr lang="en-US" sz="1300" dirty="0"/>
          </a:p>
        </p:txBody>
      </p:sp>
      <p:sp>
        <p:nvSpPr>
          <p:cNvPr id="12" name="Text 10"/>
          <p:cNvSpPr/>
          <p:nvPr/>
        </p:nvSpPr>
        <p:spPr>
          <a:xfrm>
            <a:off x="1508760" y="2523744"/>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13" name="Text 11"/>
          <p:cNvSpPr/>
          <p:nvPr/>
        </p:nvSpPr>
        <p:spPr>
          <a:xfrm>
            <a:off x="1783080" y="2523744"/>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Juhan</a:t>
            </a:r>
            <a:endParaRPr lang="en-US" sz="1300" dirty="0"/>
          </a:p>
        </p:txBody>
      </p:sp>
      <p:sp>
        <p:nvSpPr>
          <p:cNvPr id="14" name="Text 12"/>
          <p:cNvSpPr/>
          <p:nvPr/>
        </p:nvSpPr>
        <p:spPr>
          <a:xfrm>
            <a:off x="2834640" y="2542032"/>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Lookup table — first name</a:t>
            </a:r>
            <a:endParaRPr lang="en-US" sz="900" dirty="0"/>
          </a:p>
        </p:txBody>
      </p:sp>
      <p:sp>
        <p:nvSpPr>
          <p:cNvPr id="15" name="Shape 13"/>
          <p:cNvSpPr/>
          <p:nvPr/>
        </p:nvSpPr>
        <p:spPr>
          <a:xfrm>
            <a:off x="365760" y="2916936"/>
            <a:ext cx="4069080" cy="420624"/>
          </a:xfrm>
          <a:prstGeom prst="rect">
            <a:avLst/>
          </a:prstGeom>
          <a:solidFill>
            <a:srgbClr val="1E2440"/>
          </a:solidFill>
          <a:ln w="3810">
            <a:solidFill>
              <a:srgbClr val="2C3454"/>
            </a:solidFill>
            <a:prstDash val="solid"/>
          </a:ln>
        </p:spPr>
      </p:sp>
      <p:sp>
        <p:nvSpPr>
          <p:cNvPr id="16" name="Text 14"/>
          <p:cNvSpPr/>
          <p:nvPr/>
        </p:nvSpPr>
        <p:spPr>
          <a:xfrm>
            <a:off x="475488" y="2999232"/>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Hans</a:t>
            </a:r>
            <a:endParaRPr lang="en-US" sz="1300" dirty="0"/>
          </a:p>
        </p:txBody>
      </p:sp>
      <p:sp>
        <p:nvSpPr>
          <p:cNvPr id="17" name="Text 15"/>
          <p:cNvSpPr/>
          <p:nvPr/>
        </p:nvSpPr>
        <p:spPr>
          <a:xfrm>
            <a:off x="1508760" y="2999232"/>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18" name="Text 16"/>
          <p:cNvSpPr/>
          <p:nvPr/>
        </p:nvSpPr>
        <p:spPr>
          <a:xfrm>
            <a:off x="1783080" y="2999232"/>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Jaan</a:t>
            </a:r>
            <a:endParaRPr lang="en-US" sz="1300" dirty="0"/>
          </a:p>
        </p:txBody>
      </p:sp>
      <p:sp>
        <p:nvSpPr>
          <p:cNvPr id="19" name="Text 17"/>
          <p:cNvSpPr/>
          <p:nvPr/>
        </p:nvSpPr>
        <p:spPr>
          <a:xfrm>
            <a:off x="2834640" y="3017520"/>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Lookup table — first name</a:t>
            </a:r>
            <a:endParaRPr lang="en-US" sz="900" dirty="0"/>
          </a:p>
        </p:txBody>
      </p:sp>
      <p:sp>
        <p:nvSpPr>
          <p:cNvPr id="20" name="Shape 18"/>
          <p:cNvSpPr/>
          <p:nvPr/>
        </p:nvSpPr>
        <p:spPr>
          <a:xfrm>
            <a:off x="365760" y="3392424"/>
            <a:ext cx="4069080" cy="420624"/>
          </a:xfrm>
          <a:prstGeom prst="rect">
            <a:avLst/>
          </a:prstGeom>
          <a:solidFill>
            <a:srgbClr val="141929"/>
          </a:solidFill>
          <a:ln w="3810">
            <a:solidFill>
              <a:srgbClr val="2C3454"/>
            </a:solidFill>
            <a:prstDash val="solid"/>
          </a:ln>
        </p:spPr>
      </p:sp>
      <p:sp>
        <p:nvSpPr>
          <p:cNvPr id="21" name="Text 19"/>
          <p:cNvSpPr/>
          <p:nvPr/>
        </p:nvSpPr>
        <p:spPr>
          <a:xfrm>
            <a:off x="475488" y="3474720"/>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Tönno</a:t>
            </a:r>
            <a:endParaRPr lang="en-US" sz="1300" dirty="0"/>
          </a:p>
        </p:txBody>
      </p:sp>
      <p:sp>
        <p:nvSpPr>
          <p:cNvPr id="22" name="Text 20"/>
          <p:cNvSpPr/>
          <p:nvPr/>
        </p:nvSpPr>
        <p:spPr>
          <a:xfrm>
            <a:off x="1508760" y="3474720"/>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23" name="Text 21"/>
          <p:cNvSpPr/>
          <p:nvPr/>
        </p:nvSpPr>
        <p:spPr>
          <a:xfrm>
            <a:off x="1783080" y="3474720"/>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Tõnu</a:t>
            </a:r>
            <a:endParaRPr lang="en-US" sz="1300" dirty="0"/>
          </a:p>
        </p:txBody>
      </p:sp>
      <p:sp>
        <p:nvSpPr>
          <p:cNvPr id="24" name="Text 22"/>
          <p:cNvSpPr/>
          <p:nvPr/>
        </p:nvSpPr>
        <p:spPr>
          <a:xfrm>
            <a:off x="2834640" y="3493008"/>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Phonetic: ö→õ + table</a:t>
            </a:r>
            <a:endParaRPr lang="en-US" sz="900" dirty="0"/>
          </a:p>
        </p:txBody>
      </p:sp>
      <p:sp>
        <p:nvSpPr>
          <p:cNvPr id="25" name="Shape 23"/>
          <p:cNvSpPr/>
          <p:nvPr/>
        </p:nvSpPr>
        <p:spPr>
          <a:xfrm>
            <a:off x="365760" y="3867912"/>
            <a:ext cx="4069080" cy="420624"/>
          </a:xfrm>
          <a:prstGeom prst="rect">
            <a:avLst/>
          </a:prstGeom>
          <a:solidFill>
            <a:srgbClr val="1E2440"/>
          </a:solidFill>
          <a:ln w="3810">
            <a:solidFill>
              <a:srgbClr val="2C3454"/>
            </a:solidFill>
            <a:prstDash val="solid"/>
          </a:ln>
        </p:spPr>
      </p:sp>
      <p:sp>
        <p:nvSpPr>
          <p:cNvPr id="26" name="Text 24"/>
          <p:cNvSpPr/>
          <p:nvPr/>
        </p:nvSpPr>
        <p:spPr>
          <a:xfrm>
            <a:off x="475488" y="3950208"/>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Maddis</a:t>
            </a:r>
            <a:endParaRPr lang="en-US" sz="1300" dirty="0"/>
          </a:p>
        </p:txBody>
      </p:sp>
      <p:sp>
        <p:nvSpPr>
          <p:cNvPr id="27" name="Text 25"/>
          <p:cNvSpPr/>
          <p:nvPr/>
        </p:nvSpPr>
        <p:spPr>
          <a:xfrm>
            <a:off x="1508760" y="3950208"/>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28" name="Text 26"/>
          <p:cNvSpPr/>
          <p:nvPr/>
        </p:nvSpPr>
        <p:spPr>
          <a:xfrm>
            <a:off x="1783080" y="3950208"/>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Madis</a:t>
            </a:r>
            <a:endParaRPr lang="en-US" sz="1300" dirty="0"/>
          </a:p>
        </p:txBody>
      </p:sp>
      <p:sp>
        <p:nvSpPr>
          <p:cNvPr id="29" name="Text 27"/>
          <p:cNvSpPr/>
          <p:nvPr/>
        </p:nvSpPr>
        <p:spPr>
          <a:xfrm>
            <a:off x="2834640" y="3968496"/>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Phonetic: dd→d</a:t>
            </a:r>
            <a:endParaRPr lang="en-US" sz="900" dirty="0"/>
          </a:p>
        </p:txBody>
      </p:sp>
      <p:sp>
        <p:nvSpPr>
          <p:cNvPr id="30" name="Shape 28"/>
          <p:cNvSpPr/>
          <p:nvPr/>
        </p:nvSpPr>
        <p:spPr>
          <a:xfrm>
            <a:off x="365760" y="4343400"/>
            <a:ext cx="4069080" cy="420624"/>
          </a:xfrm>
          <a:prstGeom prst="rect">
            <a:avLst/>
          </a:prstGeom>
          <a:solidFill>
            <a:srgbClr val="141929"/>
          </a:solidFill>
          <a:ln w="3810">
            <a:solidFill>
              <a:srgbClr val="2C3454"/>
            </a:solidFill>
            <a:prstDash val="solid"/>
          </a:ln>
        </p:spPr>
      </p:sp>
      <p:sp>
        <p:nvSpPr>
          <p:cNvPr id="31" name="Text 29"/>
          <p:cNvSpPr/>
          <p:nvPr/>
        </p:nvSpPr>
        <p:spPr>
          <a:xfrm>
            <a:off x="475488" y="4425696"/>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Jacob</a:t>
            </a:r>
            <a:endParaRPr lang="en-US" sz="1300" dirty="0"/>
          </a:p>
        </p:txBody>
      </p:sp>
      <p:sp>
        <p:nvSpPr>
          <p:cNvPr id="32" name="Text 30"/>
          <p:cNvSpPr/>
          <p:nvPr/>
        </p:nvSpPr>
        <p:spPr>
          <a:xfrm>
            <a:off x="1508760" y="4425696"/>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33" name="Text 31"/>
          <p:cNvSpPr/>
          <p:nvPr/>
        </p:nvSpPr>
        <p:spPr>
          <a:xfrm>
            <a:off x="1783080" y="4425696"/>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Jaak</a:t>
            </a:r>
            <a:endParaRPr lang="en-US" sz="1300" dirty="0"/>
          </a:p>
        </p:txBody>
      </p:sp>
      <p:sp>
        <p:nvSpPr>
          <p:cNvPr id="34" name="Text 32"/>
          <p:cNvSpPr/>
          <p:nvPr/>
        </p:nvSpPr>
        <p:spPr>
          <a:xfrm>
            <a:off x="2834640" y="4443984"/>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Lookup table — first name</a:t>
            </a:r>
            <a:endParaRPr lang="en-US" sz="900" dirty="0"/>
          </a:p>
        </p:txBody>
      </p:sp>
      <p:sp>
        <p:nvSpPr>
          <p:cNvPr id="35" name="Shape 33"/>
          <p:cNvSpPr/>
          <p:nvPr/>
        </p:nvSpPr>
        <p:spPr>
          <a:xfrm>
            <a:off x="4526280" y="1965960"/>
            <a:ext cx="4069080" cy="420624"/>
          </a:xfrm>
          <a:prstGeom prst="rect">
            <a:avLst/>
          </a:prstGeom>
          <a:solidFill>
            <a:srgbClr val="1E2440"/>
          </a:solidFill>
          <a:ln w="3810">
            <a:solidFill>
              <a:srgbClr val="2C3454"/>
            </a:solidFill>
            <a:prstDash val="solid"/>
          </a:ln>
        </p:spPr>
      </p:sp>
      <p:sp>
        <p:nvSpPr>
          <p:cNvPr id="36" name="Text 34"/>
          <p:cNvSpPr/>
          <p:nvPr/>
        </p:nvSpPr>
        <p:spPr>
          <a:xfrm>
            <a:off x="4636008" y="2048256"/>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Michael</a:t>
            </a:r>
            <a:endParaRPr lang="en-US" sz="1300" dirty="0"/>
          </a:p>
        </p:txBody>
      </p:sp>
      <p:sp>
        <p:nvSpPr>
          <p:cNvPr id="37" name="Text 35"/>
          <p:cNvSpPr/>
          <p:nvPr/>
        </p:nvSpPr>
        <p:spPr>
          <a:xfrm>
            <a:off x="5669280" y="2048256"/>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38" name="Text 36"/>
          <p:cNvSpPr/>
          <p:nvPr/>
        </p:nvSpPr>
        <p:spPr>
          <a:xfrm>
            <a:off x="5943600" y="2048256"/>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Mihkel</a:t>
            </a:r>
            <a:endParaRPr lang="en-US" sz="1300" dirty="0"/>
          </a:p>
        </p:txBody>
      </p:sp>
      <p:sp>
        <p:nvSpPr>
          <p:cNvPr id="39" name="Text 37"/>
          <p:cNvSpPr/>
          <p:nvPr/>
        </p:nvSpPr>
        <p:spPr>
          <a:xfrm>
            <a:off x="6995160" y="2066544"/>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Lookup table — first name</a:t>
            </a:r>
            <a:endParaRPr lang="en-US" sz="900" dirty="0"/>
          </a:p>
        </p:txBody>
      </p:sp>
      <p:sp>
        <p:nvSpPr>
          <p:cNvPr id="40" name="Shape 38"/>
          <p:cNvSpPr/>
          <p:nvPr/>
        </p:nvSpPr>
        <p:spPr>
          <a:xfrm>
            <a:off x="4526280" y="2441448"/>
            <a:ext cx="4069080" cy="420624"/>
          </a:xfrm>
          <a:prstGeom prst="rect">
            <a:avLst/>
          </a:prstGeom>
          <a:solidFill>
            <a:srgbClr val="141929"/>
          </a:solidFill>
          <a:ln w="3810">
            <a:solidFill>
              <a:srgbClr val="2C3454"/>
            </a:solidFill>
            <a:prstDash val="solid"/>
          </a:ln>
        </p:spPr>
      </p:sp>
      <p:sp>
        <p:nvSpPr>
          <p:cNvPr id="41" name="Text 39"/>
          <p:cNvSpPr/>
          <p:nvPr/>
        </p:nvSpPr>
        <p:spPr>
          <a:xfrm>
            <a:off x="4636008" y="2523744"/>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Wilhelm</a:t>
            </a:r>
            <a:endParaRPr lang="en-US" sz="1300" dirty="0"/>
          </a:p>
        </p:txBody>
      </p:sp>
      <p:sp>
        <p:nvSpPr>
          <p:cNvPr id="42" name="Text 40"/>
          <p:cNvSpPr/>
          <p:nvPr/>
        </p:nvSpPr>
        <p:spPr>
          <a:xfrm>
            <a:off x="5669280" y="2523744"/>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43" name="Text 41"/>
          <p:cNvSpPr/>
          <p:nvPr/>
        </p:nvSpPr>
        <p:spPr>
          <a:xfrm>
            <a:off x="5943600" y="2523744"/>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Vilhelm</a:t>
            </a:r>
            <a:endParaRPr lang="en-US" sz="1300" dirty="0"/>
          </a:p>
        </p:txBody>
      </p:sp>
      <p:sp>
        <p:nvSpPr>
          <p:cNvPr id="44" name="Text 42"/>
          <p:cNvSpPr/>
          <p:nvPr/>
        </p:nvSpPr>
        <p:spPr>
          <a:xfrm>
            <a:off x="6995160" y="2542032"/>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Phonetic: W→V</a:t>
            </a:r>
            <a:endParaRPr lang="en-US" sz="900" dirty="0"/>
          </a:p>
        </p:txBody>
      </p:sp>
      <p:sp>
        <p:nvSpPr>
          <p:cNvPr id="45" name="Shape 43"/>
          <p:cNvSpPr/>
          <p:nvPr/>
        </p:nvSpPr>
        <p:spPr>
          <a:xfrm>
            <a:off x="4526280" y="2916936"/>
            <a:ext cx="4069080" cy="420624"/>
          </a:xfrm>
          <a:prstGeom prst="rect">
            <a:avLst/>
          </a:prstGeom>
          <a:solidFill>
            <a:srgbClr val="1E2440"/>
          </a:solidFill>
          <a:ln w="3810">
            <a:solidFill>
              <a:srgbClr val="2C3454"/>
            </a:solidFill>
            <a:prstDash val="solid"/>
          </a:ln>
        </p:spPr>
      </p:sp>
      <p:sp>
        <p:nvSpPr>
          <p:cNvPr id="46" name="Text 44"/>
          <p:cNvSpPr/>
          <p:nvPr/>
        </p:nvSpPr>
        <p:spPr>
          <a:xfrm>
            <a:off x="4636008" y="2999232"/>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Peter</a:t>
            </a:r>
            <a:endParaRPr lang="en-US" sz="1300" dirty="0"/>
          </a:p>
        </p:txBody>
      </p:sp>
      <p:sp>
        <p:nvSpPr>
          <p:cNvPr id="47" name="Text 45"/>
          <p:cNvSpPr/>
          <p:nvPr/>
        </p:nvSpPr>
        <p:spPr>
          <a:xfrm>
            <a:off x="5669280" y="2999232"/>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48" name="Text 46"/>
          <p:cNvSpPr/>
          <p:nvPr/>
        </p:nvSpPr>
        <p:spPr>
          <a:xfrm>
            <a:off x="5943600" y="2999232"/>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Peeter</a:t>
            </a:r>
            <a:endParaRPr lang="en-US" sz="1300" dirty="0"/>
          </a:p>
        </p:txBody>
      </p:sp>
      <p:sp>
        <p:nvSpPr>
          <p:cNvPr id="49" name="Text 47"/>
          <p:cNvSpPr/>
          <p:nvPr/>
        </p:nvSpPr>
        <p:spPr>
          <a:xfrm>
            <a:off x="6995160" y="3017520"/>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Lookup table — first name</a:t>
            </a:r>
            <a:endParaRPr lang="en-US" sz="900" dirty="0"/>
          </a:p>
        </p:txBody>
      </p:sp>
      <p:sp>
        <p:nvSpPr>
          <p:cNvPr id="50" name="Shape 48"/>
          <p:cNvSpPr/>
          <p:nvPr/>
        </p:nvSpPr>
        <p:spPr>
          <a:xfrm>
            <a:off x="4526280" y="3392424"/>
            <a:ext cx="4069080" cy="420624"/>
          </a:xfrm>
          <a:prstGeom prst="rect">
            <a:avLst/>
          </a:prstGeom>
          <a:solidFill>
            <a:srgbClr val="141929"/>
          </a:solidFill>
          <a:ln w="3810">
            <a:solidFill>
              <a:srgbClr val="2C3454"/>
            </a:solidFill>
            <a:prstDash val="solid"/>
          </a:ln>
        </p:spPr>
      </p:sp>
      <p:sp>
        <p:nvSpPr>
          <p:cNvPr id="51" name="Text 49"/>
          <p:cNvSpPr/>
          <p:nvPr/>
        </p:nvSpPr>
        <p:spPr>
          <a:xfrm>
            <a:off x="4636008" y="3474720"/>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Andreas</a:t>
            </a:r>
            <a:endParaRPr lang="en-US" sz="1300" dirty="0"/>
          </a:p>
        </p:txBody>
      </p:sp>
      <p:sp>
        <p:nvSpPr>
          <p:cNvPr id="52" name="Text 50"/>
          <p:cNvSpPr/>
          <p:nvPr/>
        </p:nvSpPr>
        <p:spPr>
          <a:xfrm>
            <a:off x="5669280" y="3474720"/>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53" name="Text 51"/>
          <p:cNvSpPr/>
          <p:nvPr/>
        </p:nvSpPr>
        <p:spPr>
          <a:xfrm>
            <a:off x="5943600" y="3474720"/>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Andres</a:t>
            </a:r>
            <a:endParaRPr lang="en-US" sz="1300" dirty="0"/>
          </a:p>
        </p:txBody>
      </p:sp>
      <p:sp>
        <p:nvSpPr>
          <p:cNvPr id="54" name="Text 52"/>
          <p:cNvSpPr/>
          <p:nvPr/>
        </p:nvSpPr>
        <p:spPr>
          <a:xfrm>
            <a:off x="6995160" y="3493008"/>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Lookup table — first name</a:t>
            </a:r>
            <a:endParaRPr lang="en-US" sz="900" dirty="0"/>
          </a:p>
        </p:txBody>
      </p:sp>
      <p:sp>
        <p:nvSpPr>
          <p:cNvPr id="55" name="Shape 53"/>
          <p:cNvSpPr/>
          <p:nvPr/>
        </p:nvSpPr>
        <p:spPr>
          <a:xfrm>
            <a:off x="4526280" y="3867912"/>
            <a:ext cx="4069080" cy="420624"/>
          </a:xfrm>
          <a:prstGeom prst="rect">
            <a:avLst/>
          </a:prstGeom>
          <a:solidFill>
            <a:srgbClr val="1E2440"/>
          </a:solidFill>
          <a:ln w="3810">
            <a:solidFill>
              <a:srgbClr val="2C3454"/>
            </a:solidFill>
            <a:prstDash val="solid"/>
          </a:ln>
        </p:spPr>
      </p:sp>
      <p:sp>
        <p:nvSpPr>
          <p:cNvPr id="56" name="Text 54"/>
          <p:cNvSpPr/>
          <p:nvPr/>
        </p:nvSpPr>
        <p:spPr>
          <a:xfrm>
            <a:off x="4636008" y="3950208"/>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Bergmann</a:t>
            </a:r>
            <a:endParaRPr lang="en-US" sz="1300" dirty="0"/>
          </a:p>
        </p:txBody>
      </p:sp>
      <p:sp>
        <p:nvSpPr>
          <p:cNvPr id="57" name="Text 55"/>
          <p:cNvSpPr/>
          <p:nvPr/>
        </p:nvSpPr>
        <p:spPr>
          <a:xfrm>
            <a:off x="5669280" y="3950208"/>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58" name="Text 56"/>
          <p:cNvSpPr/>
          <p:nvPr/>
        </p:nvSpPr>
        <p:spPr>
          <a:xfrm>
            <a:off x="5943600" y="3950208"/>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Mägi</a:t>
            </a:r>
            <a:endParaRPr lang="en-US" sz="1300" dirty="0"/>
          </a:p>
        </p:txBody>
      </p:sp>
      <p:sp>
        <p:nvSpPr>
          <p:cNvPr id="59" name="Text 57"/>
          <p:cNvSpPr/>
          <p:nvPr/>
        </p:nvSpPr>
        <p:spPr>
          <a:xfrm>
            <a:off x="6995160" y="3968496"/>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Surname: -mann → mägi (hill)</a:t>
            </a:r>
            <a:endParaRPr lang="en-US" sz="900" dirty="0"/>
          </a:p>
        </p:txBody>
      </p:sp>
      <p:sp>
        <p:nvSpPr>
          <p:cNvPr id="60" name="Shape 58"/>
          <p:cNvSpPr/>
          <p:nvPr/>
        </p:nvSpPr>
        <p:spPr>
          <a:xfrm>
            <a:off x="4526280" y="4343400"/>
            <a:ext cx="4069080" cy="420624"/>
          </a:xfrm>
          <a:prstGeom prst="rect">
            <a:avLst/>
          </a:prstGeom>
          <a:solidFill>
            <a:srgbClr val="141929"/>
          </a:solidFill>
          <a:ln w="3810">
            <a:solidFill>
              <a:srgbClr val="2C3454"/>
            </a:solidFill>
            <a:prstDash val="solid"/>
          </a:ln>
        </p:spPr>
      </p:sp>
      <p:sp>
        <p:nvSpPr>
          <p:cNvPr id="61" name="Text 59"/>
          <p:cNvSpPr/>
          <p:nvPr/>
        </p:nvSpPr>
        <p:spPr>
          <a:xfrm>
            <a:off x="4636008" y="4425696"/>
            <a:ext cx="1005840" cy="256032"/>
          </a:xfrm>
          <a:prstGeom prst="rect">
            <a:avLst/>
          </a:prstGeom>
          <a:noFill/>
          <a:ln/>
        </p:spPr>
        <p:txBody>
          <a:bodyPr wrap="square" rtlCol="0" anchor="ctr"/>
          <a:lstStyle/>
          <a:p>
            <a:pPr indent="0" marL="0">
              <a:buNone/>
            </a:pPr>
            <a:r>
              <a:rPr lang="en-US" sz="1300" i="1" dirty="0">
                <a:solidFill>
                  <a:srgbClr val="9098B0"/>
                </a:solidFill>
                <a:latin typeface="Georgia" pitchFamily="34" charset="0"/>
                <a:ea typeface="Georgia" pitchFamily="34" charset="-122"/>
                <a:cs typeface="Georgia" pitchFamily="34" charset="-120"/>
              </a:rPr>
              <a:t>Waldmann</a:t>
            </a:r>
            <a:endParaRPr lang="en-US" sz="1300" dirty="0"/>
          </a:p>
        </p:txBody>
      </p:sp>
      <p:sp>
        <p:nvSpPr>
          <p:cNvPr id="62" name="Text 60"/>
          <p:cNvSpPr/>
          <p:nvPr/>
        </p:nvSpPr>
        <p:spPr>
          <a:xfrm>
            <a:off x="5669280" y="4425696"/>
            <a:ext cx="274320" cy="256032"/>
          </a:xfrm>
          <a:prstGeom prst="rect">
            <a:avLst/>
          </a:prstGeom>
          <a:noFill/>
          <a:ln/>
        </p:spPr>
        <p:txBody>
          <a:bodyPr wrap="square" rtlCol="0" anchor="ctr"/>
          <a:lstStyle/>
          <a:p>
            <a:pPr algn="ctr" indent="0" marL="0">
              <a:buNone/>
            </a:pPr>
            <a:r>
              <a:rPr lang="en-US" sz="1100" dirty="0">
                <a:solidFill>
                  <a:srgbClr val="9098B0"/>
                </a:solidFill>
              </a:rPr>
              <a:t>→</a:t>
            </a:r>
            <a:endParaRPr lang="en-US" sz="1100" dirty="0"/>
          </a:p>
        </p:txBody>
      </p:sp>
      <p:sp>
        <p:nvSpPr>
          <p:cNvPr id="63" name="Text 61"/>
          <p:cNvSpPr/>
          <p:nvPr/>
        </p:nvSpPr>
        <p:spPr>
          <a:xfrm>
            <a:off x="5943600" y="4425696"/>
            <a:ext cx="100584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Metsamees</a:t>
            </a:r>
            <a:endParaRPr lang="en-US" sz="1300" dirty="0"/>
          </a:p>
        </p:txBody>
      </p:sp>
      <p:sp>
        <p:nvSpPr>
          <p:cNvPr id="64" name="Text 62"/>
          <p:cNvSpPr/>
          <p:nvPr/>
        </p:nvSpPr>
        <p:spPr>
          <a:xfrm>
            <a:off x="6995160" y="4443984"/>
            <a:ext cx="1463040" cy="228600"/>
          </a:xfrm>
          <a:prstGeom prst="rect">
            <a:avLst/>
          </a:prstGeom>
          <a:noFill/>
          <a:ln/>
        </p:spPr>
        <p:txBody>
          <a:bodyPr wrap="square" rtlCol="0" anchor="ctr"/>
          <a:lstStyle/>
          <a:p>
            <a:pPr indent="0" marL="0">
              <a:buNone/>
            </a:pPr>
            <a:r>
              <a:rPr lang="en-US" sz="900" i="1" dirty="0">
                <a:solidFill>
                  <a:srgbClr val="9098B0"/>
                </a:solidFill>
                <a:latin typeface="Calibri" pitchFamily="34" charset="0"/>
                <a:ea typeface="Calibri" pitchFamily="34" charset="-122"/>
                <a:cs typeface="Calibri" pitchFamily="34" charset="-120"/>
              </a:rPr>
              <a:t>Surname: Wald+mann → forest+man</a:t>
            </a:r>
            <a:endParaRPr lang="en-US" sz="900" dirty="0"/>
          </a:p>
        </p:txBody>
      </p:sp>
      <p:sp>
        <p:nvSpPr>
          <p:cNvPr id="65" name="Shape 63"/>
          <p:cNvSpPr/>
          <p:nvPr/>
        </p:nvSpPr>
        <p:spPr>
          <a:xfrm>
            <a:off x="365760" y="4800600"/>
            <a:ext cx="8412480" cy="256032"/>
          </a:xfrm>
          <a:prstGeom prst="rect">
            <a:avLst/>
          </a:prstGeom>
          <a:solidFill>
            <a:srgbClr val="1E2440"/>
          </a:solidFill>
          <a:ln w="3810">
            <a:solidFill>
              <a:srgbClr val="2C3454"/>
            </a:solidFill>
            <a:prstDash val="solid"/>
          </a:ln>
        </p:spPr>
      </p:sp>
      <p:sp>
        <p:nvSpPr>
          <p:cNvPr id="66" name="Text 64"/>
          <p:cNvSpPr/>
          <p:nvPr/>
        </p:nvSpPr>
        <p:spPr>
          <a:xfrm>
            <a:off x="548640" y="4828032"/>
            <a:ext cx="8046720" cy="201168"/>
          </a:xfrm>
          <a:prstGeom prst="rect">
            <a:avLst/>
          </a:prstGeom>
          <a:noFill/>
          <a:ln/>
        </p:spPr>
        <p:txBody>
          <a:bodyPr wrap="square" rtlCol="0" anchor="ctr"/>
          <a:lstStyle/>
          <a:p>
            <a:pPr indent="0" marL="0">
              <a:buNone/>
            </a:pPr>
            <a:r>
              <a:rPr lang="en-US" sz="900" dirty="0">
                <a:solidFill>
                  <a:srgbClr val="9098B0"/>
                </a:solidFill>
                <a:latin typeface="Calibri" pitchFamily="34" charset="0"/>
                <a:ea typeface="Calibri" pitchFamily="34" charset="-122"/>
                <a:cs typeface="Calibri" pitchFamily="34" charset="-120"/>
              </a:rPr>
              <a:t>Phonetic rules applied: w→v · ö→õ · ae→ä · oe→õ · double consonants collapsed · ph→f · ck→k</a:t>
            </a:r>
            <a:endParaRPr lang="en-US" sz="900" dirty="0"/>
          </a:p>
        </p:txBody>
      </p:sp>
      <p:sp>
        <p:nvSpPr>
          <p:cNvPr id="67" name="Text 65"/>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F1A"/>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RESULT &amp; PROTOTYPE</a:t>
            </a:r>
            <a:endParaRPr lang="en-US" sz="900" dirty="0"/>
          </a:p>
        </p:txBody>
      </p:sp>
      <p:sp>
        <p:nvSpPr>
          <p:cNvPr id="3" name="Text 1"/>
          <p:cNvSpPr/>
          <p:nvPr/>
        </p:nvSpPr>
        <p:spPr>
          <a:xfrm>
            <a:off x="457200" y="502920"/>
            <a:ext cx="822960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My Name in History — live demo</a:t>
            </a:r>
            <a:endParaRPr lang="en-US" sz="3000" dirty="0"/>
          </a:p>
        </p:txBody>
      </p:sp>
      <p:pic>
        <p:nvPicPr>
          <p:cNvPr id="4" name="Image 0" descr="preencoded.png">    </p:cNvPr>
          <p:cNvPicPr>
            <a:picLocks noChangeAspect="1"/>
          </p:cNvPicPr>
          <p:nvPr/>
        </p:nvPicPr>
        <p:blipFill>
          <a:blip r:embed="rId1"/>
          <a:srcRect l="0" r="0" t="0" b="0"/>
          <a:stretch/>
        </p:blipFill>
        <p:spPr>
          <a:xfrm>
            <a:off x="4389120" y="1188720"/>
            <a:ext cx="4572000" cy="3749040"/>
          </a:xfrm>
          <a:prstGeom prst="rect">
            <a:avLst/>
          </a:prstGeom>
        </p:spPr>
      </p:pic>
      <p:sp>
        <p:nvSpPr>
          <p:cNvPr id="5" name="Shape 2"/>
          <p:cNvSpPr/>
          <p:nvPr/>
        </p:nvSpPr>
        <p:spPr>
          <a:xfrm>
            <a:off x="4370832" y="1170432"/>
            <a:ext cx="4608576" cy="3785616"/>
          </a:xfrm>
          <a:prstGeom prst="rect">
            <a:avLst/>
          </a:prstGeom>
          <a:ln w="6350">
            <a:solidFill>
              <a:srgbClr val="2C3454"/>
            </a:solidFill>
            <a:prstDash val="solid"/>
          </a:ln>
        </p:spPr>
      </p:sp>
      <p:sp>
        <p:nvSpPr>
          <p:cNvPr id="6" name="Shape 3"/>
          <p:cNvSpPr/>
          <p:nvPr/>
        </p:nvSpPr>
        <p:spPr>
          <a:xfrm>
            <a:off x="365760" y="1234440"/>
            <a:ext cx="45720" cy="640080"/>
          </a:xfrm>
          <a:prstGeom prst="rect">
            <a:avLst/>
          </a:prstGeom>
          <a:solidFill>
            <a:srgbClr val="C0392B"/>
          </a:solidFill>
          <a:ln/>
        </p:spPr>
      </p:sp>
      <p:sp>
        <p:nvSpPr>
          <p:cNvPr id="7" name="Text 4"/>
          <p:cNvSpPr/>
          <p:nvPr/>
        </p:nvSpPr>
        <p:spPr>
          <a:xfrm>
            <a:off x="548640" y="1252728"/>
            <a:ext cx="356616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Name search</a:t>
            </a:r>
            <a:endParaRPr lang="en-US" sz="1200" dirty="0"/>
          </a:p>
        </p:txBody>
      </p:sp>
      <p:sp>
        <p:nvSpPr>
          <p:cNvPr id="8" name="Text 5"/>
          <p:cNvSpPr/>
          <p:nvPr/>
        </p:nvSpPr>
        <p:spPr>
          <a:xfrm>
            <a:off x="548640" y="1508760"/>
            <a:ext cx="3566160" cy="347472"/>
          </a:xfrm>
          <a:prstGeom prst="rect">
            <a:avLst/>
          </a:prstGeom>
          <a:noFill/>
          <a:ln/>
        </p:spPr>
        <p:txBody>
          <a:bodyPr wrap="square" rtlCol="0" anchor="ctr"/>
          <a:lstStyle/>
          <a:p>
            <a:pPr indent="0" marL="0">
              <a:lnSpc>
                <a:spcPct val="115000"/>
              </a:lnSpc>
              <a:buNone/>
            </a:pPr>
            <a:r>
              <a:rPr lang="en-US" sz="950" dirty="0">
                <a:solidFill>
                  <a:srgbClr val="D4D8E8"/>
                </a:solidFill>
                <a:latin typeface="Calibri" pitchFamily="34" charset="0"/>
                <a:ea typeface="Calibri" pitchFamily="34" charset="-122"/>
                <a:cs typeface="Calibri" pitchFamily="34" charset="-120"/>
              </a:rPr>
              <a:t>Searches 4M records with word-boundary matching — Lee won't match Leenik</a:t>
            </a:r>
            <a:endParaRPr lang="en-US" sz="950" dirty="0"/>
          </a:p>
        </p:txBody>
      </p:sp>
      <p:sp>
        <p:nvSpPr>
          <p:cNvPr id="9" name="Shape 6"/>
          <p:cNvSpPr/>
          <p:nvPr/>
        </p:nvSpPr>
        <p:spPr>
          <a:xfrm>
            <a:off x="365760" y="1984248"/>
            <a:ext cx="45720" cy="640080"/>
          </a:xfrm>
          <a:prstGeom prst="rect">
            <a:avLst/>
          </a:prstGeom>
          <a:solidFill>
            <a:srgbClr val="E67E22"/>
          </a:solidFill>
          <a:ln/>
        </p:spPr>
      </p:sp>
      <p:sp>
        <p:nvSpPr>
          <p:cNvPr id="10" name="Text 7"/>
          <p:cNvSpPr/>
          <p:nvPr/>
        </p:nvSpPr>
        <p:spPr>
          <a:xfrm>
            <a:off x="548640" y="2002536"/>
            <a:ext cx="356616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Historical arc</a:t>
            </a:r>
            <a:endParaRPr lang="en-US" sz="1200" dirty="0"/>
          </a:p>
        </p:txBody>
      </p:sp>
      <p:sp>
        <p:nvSpPr>
          <p:cNvPr id="11" name="Text 8"/>
          <p:cNvSpPr/>
          <p:nvPr/>
        </p:nvSpPr>
        <p:spPr>
          <a:xfrm>
            <a:off x="548640" y="2258568"/>
            <a:ext cx="3566160" cy="347472"/>
          </a:xfrm>
          <a:prstGeom prst="rect">
            <a:avLst/>
          </a:prstGeom>
          <a:noFill/>
          <a:ln/>
        </p:spPr>
        <p:txBody>
          <a:bodyPr wrap="square" rtlCol="0" anchor="ctr"/>
          <a:lstStyle/>
          <a:p>
            <a:pPr indent="0" marL="0">
              <a:lnSpc>
                <a:spcPct val="115000"/>
              </a:lnSpc>
              <a:buNone/>
            </a:pPr>
            <a:r>
              <a:rPr lang="en-US" sz="950" dirty="0">
                <a:solidFill>
                  <a:srgbClr val="D4D8E8"/>
                </a:solidFill>
                <a:latin typeface="Calibri" pitchFamily="34" charset="0"/>
                <a:ea typeface="Calibri" pitchFamily="34" charset="-122"/>
                <a:cs typeface="Calibri" pitchFamily="34" charset="-120"/>
              </a:rPr>
              <a:t>Timeline: court appearances below, publications above. The crossing is the story.</a:t>
            </a:r>
            <a:endParaRPr lang="en-US" sz="950" dirty="0"/>
          </a:p>
        </p:txBody>
      </p:sp>
      <p:sp>
        <p:nvSpPr>
          <p:cNvPr id="12" name="Shape 9"/>
          <p:cNvSpPr/>
          <p:nvPr/>
        </p:nvSpPr>
        <p:spPr>
          <a:xfrm>
            <a:off x="365760" y="2734056"/>
            <a:ext cx="45720" cy="640080"/>
          </a:xfrm>
          <a:prstGeom prst="rect">
            <a:avLst/>
          </a:prstGeom>
          <a:solidFill>
            <a:srgbClr val="2471A3"/>
          </a:solidFill>
          <a:ln/>
        </p:spPr>
      </p:sp>
      <p:sp>
        <p:nvSpPr>
          <p:cNvPr id="13" name="Text 10"/>
          <p:cNvSpPr/>
          <p:nvPr/>
        </p:nvSpPr>
        <p:spPr>
          <a:xfrm>
            <a:off x="548640" y="2752344"/>
            <a:ext cx="356616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ENB biography</a:t>
            </a:r>
            <a:endParaRPr lang="en-US" sz="1200" dirty="0"/>
          </a:p>
        </p:txBody>
      </p:sp>
      <p:sp>
        <p:nvSpPr>
          <p:cNvPr id="14" name="Text 11"/>
          <p:cNvSpPr/>
          <p:nvPr/>
        </p:nvSpPr>
        <p:spPr>
          <a:xfrm>
            <a:off x="548640" y="3008376"/>
            <a:ext cx="3566160" cy="347472"/>
          </a:xfrm>
          <a:prstGeom prst="rect">
            <a:avLst/>
          </a:prstGeom>
          <a:noFill/>
          <a:ln/>
        </p:spPr>
        <p:txBody>
          <a:bodyPr wrap="square" rtlCol="0" anchor="ctr"/>
          <a:lstStyle/>
          <a:p>
            <a:pPr indent="0" marL="0">
              <a:lnSpc>
                <a:spcPct val="115000"/>
              </a:lnSpc>
              <a:buNone/>
            </a:pPr>
            <a:r>
              <a:rPr lang="en-US" sz="950" dirty="0">
                <a:solidFill>
                  <a:srgbClr val="D4D8E8"/>
                </a:solidFill>
                <a:latin typeface="Calibri" pitchFamily="34" charset="0"/>
                <a:ea typeface="Calibri" pitchFamily="34" charset="-122"/>
                <a:cs typeface="Calibri" pitchFamily="34" charset="-120"/>
              </a:rPr>
              <a:t>Matched author with full dates, profession, publication count, topics, languages</a:t>
            </a:r>
            <a:endParaRPr lang="en-US" sz="950" dirty="0"/>
          </a:p>
        </p:txBody>
      </p:sp>
      <p:sp>
        <p:nvSpPr>
          <p:cNvPr id="15" name="Shape 12"/>
          <p:cNvSpPr/>
          <p:nvPr/>
        </p:nvSpPr>
        <p:spPr>
          <a:xfrm>
            <a:off x="365760" y="3483864"/>
            <a:ext cx="45720" cy="640080"/>
          </a:xfrm>
          <a:prstGeom prst="rect">
            <a:avLst/>
          </a:prstGeom>
          <a:solidFill>
            <a:srgbClr val="0F6E56"/>
          </a:solidFill>
          <a:ln/>
        </p:spPr>
      </p:sp>
      <p:sp>
        <p:nvSpPr>
          <p:cNvPr id="16" name="Text 13"/>
          <p:cNvSpPr/>
          <p:nvPr/>
        </p:nvSpPr>
        <p:spPr>
          <a:xfrm>
            <a:off x="548640" y="3502152"/>
            <a:ext cx="356616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Narrative closer</a:t>
            </a:r>
            <a:endParaRPr lang="en-US" sz="1200" dirty="0"/>
          </a:p>
        </p:txBody>
      </p:sp>
      <p:sp>
        <p:nvSpPr>
          <p:cNvPr id="17" name="Text 14"/>
          <p:cNvSpPr/>
          <p:nvPr/>
        </p:nvSpPr>
        <p:spPr>
          <a:xfrm>
            <a:off x="548640" y="3758184"/>
            <a:ext cx="3566160" cy="347472"/>
          </a:xfrm>
          <a:prstGeom prst="rect">
            <a:avLst/>
          </a:prstGeom>
          <a:noFill/>
          <a:ln/>
        </p:spPr>
        <p:txBody>
          <a:bodyPr wrap="square" rtlCol="0" anchor="ctr"/>
          <a:lstStyle/>
          <a:p>
            <a:pPr indent="0" marL="0">
              <a:lnSpc>
                <a:spcPct val="115000"/>
              </a:lnSpc>
              <a:buNone/>
            </a:pPr>
            <a:r>
              <a:rPr lang="en-US" sz="950" dirty="0">
                <a:solidFill>
                  <a:srgbClr val="D4D8E8"/>
                </a:solidFill>
                <a:latin typeface="Calibri" pitchFamily="34" charset="0"/>
                <a:ea typeface="Calibri" pitchFamily="34" charset="-122"/>
                <a:cs typeface="Calibri" pitchFamily="34" charset="-120"/>
              </a:rPr>
              <a:t>'In 34 years this name moved from the court ledger to the title page'</a:t>
            </a:r>
            <a:endParaRPr lang="en-US" sz="950" dirty="0"/>
          </a:p>
        </p:txBody>
      </p:sp>
      <p:sp>
        <p:nvSpPr>
          <p:cNvPr id="18" name="Shape 15"/>
          <p:cNvSpPr/>
          <p:nvPr/>
        </p:nvSpPr>
        <p:spPr>
          <a:xfrm>
            <a:off x="365760" y="4233672"/>
            <a:ext cx="45720" cy="640080"/>
          </a:xfrm>
          <a:prstGeom prst="rect">
            <a:avLst/>
          </a:prstGeom>
          <a:solidFill>
            <a:srgbClr val="8E44AD"/>
          </a:solidFill>
          <a:ln/>
        </p:spPr>
      </p:sp>
      <p:sp>
        <p:nvSpPr>
          <p:cNvPr id="19" name="Text 16"/>
          <p:cNvSpPr/>
          <p:nvPr/>
        </p:nvSpPr>
        <p:spPr>
          <a:xfrm>
            <a:off x="548640" y="4251960"/>
            <a:ext cx="356616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Interactive map</a:t>
            </a:r>
            <a:endParaRPr lang="en-US" sz="1200" dirty="0"/>
          </a:p>
        </p:txBody>
      </p:sp>
      <p:sp>
        <p:nvSpPr>
          <p:cNvPr id="20" name="Text 17"/>
          <p:cNvSpPr/>
          <p:nvPr/>
        </p:nvSpPr>
        <p:spPr>
          <a:xfrm>
            <a:off x="548640" y="4507992"/>
            <a:ext cx="3566160" cy="347472"/>
          </a:xfrm>
          <a:prstGeom prst="rect">
            <a:avLst/>
          </a:prstGeom>
          <a:noFill/>
          <a:ln/>
        </p:spPr>
        <p:txBody>
          <a:bodyPr wrap="square" rtlCol="0" anchor="ctr"/>
          <a:lstStyle/>
          <a:p>
            <a:pPr indent="0" marL="0">
              <a:lnSpc>
                <a:spcPct val="115000"/>
              </a:lnSpc>
              <a:buNone/>
            </a:pPr>
            <a:r>
              <a:rPr lang="en-US" sz="950" dirty="0">
                <a:solidFill>
                  <a:srgbClr val="D4D8E8"/>
                </a:solidFill>
                <a:latin typeface="Calibri" pitchFamily="34" charset="0"/>
                <a:ea typeface="Calibri" pitchFamily="34" charset="-122"/>
                <a:cs typeface="Calibri" pitchFamily="34" charset="-120"/>
              </a:rPr>
              <a:t>County circles sized by court frequency + birthplace pin from Wikidata</a:t>
            </a:r>
            <a:endParaRPr lang="en-US" sz="950" dirty="0"/>
          </a:p>
        </p:txBody>
      </p:sp>
      <p:sp>
        <p:nvSpPr>
          <p:cNvPr id="21" name="Text 18"/>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REFLECTION</a:t>
            </a:r>
            <a:endParaRPr lang="en-US" sz="900" dirty="0"/>
          </a:p>
        </p:txBody>
      </p:sp>
      <p:sp>
        <p:nvSpPr>
          <p:cNvPr id="3" name="Text 1"/>
          <p:cNvSpPr/>
          <p:nvPr/>
        </p:nvSpPr>
        <p:spPr>
          <a:xfrm>
            <a:off x="457200" y="502920"/>
            <a:ext cx="8229600" cy="594360"/>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What we learned — and what comes next</a:t>
            </a:r>
            <a:endParaRPr lang="en-US" sz="2800" dirty="0"/>
          </a:p>
        </p:txBody>
      </p:sp>
      <p:sp>
        <p:nvSpPr>
          <p:cNvPr id="4" name="Shape 2"/>
          <p:cNvSpPr/>
          <p:nvPr/>
        </p:nvSpPr>
        <p:spPr>
          <a:xfrm>
            <a:off x="365760" y="1234440"/>
            <a:ext cx="2651760" cy="3611880"/>
          </a:xfrm>
          <a:prstGeom prst="rect">
            <a:avLst/>
          </a:prstGeom>
          <a:solidFill>
            <a:srgbClr val="FFFFFF"/>
          </a:solidFill>
          <a:ln w="6350">
            <a:solidFill>
              <a:srgbClr val="E0DDD5"/>
            </a:solidFill>
            <a:prstDash val="solid"/>
          </a:ln>
        </p:spPr>
      </p:sp>
      <p:sp>
        <p:nvSpPr>
          <p:cNvPr id="5" name="Shape 3"/>
          <p:cNvSpPr/>
          <p:nvPr/>
        </p:nvSpPr>
        <p:spPr>
          <a:xfrm>
            <a:off x="365760" y="1234440"/>
            <a:ext cx="2651760" cy="292608"/>
          </a:xfrm>
          <a:prstGeom prst="rect">
            <a:avLst/>
          </a:prstGeom>
          <a:solidFill>
            <a:srgbClr val="0F6E56"/>
          </a:solidFill>
          <a:ln/>
        </p:spPr>
      </p:sp>
      <p:sp>
        <p:nvSpPr>
          <p:cNvPr id="6" name="Text 4"/>
          <p:cNvSpPr/>
          <p:nvPr/>
        </p:nvSpPr>
        <p:spPr>
          <a:xfrm>
            <a:off x="457200" y="1252728"/>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worked well</a:t>
            </a:r>
            <a:endParaRPr lang="en-US" sz="1200" dirty="0"/>
          </a:p>
        </p:txBody>
      </p:sp>
      <p:sp>
        <p:nvSpPr>
          <p:cNvPr id="7" name="Text 5"/>
          <p:cNvSpPr/>
          <p:nvPr/>
        </p:nvSpPr>
        <p:spPr>
          <a:xfrm>
            <a:off x="457200" y="1600200"/>
            <a:ext cx="2487168" cy="3154680"/>
          </a:xfrm>
          <a:prstGeom prst="rect">
            <a:avLst/>
          </a:prstGeom>
          <a:noFill/>
          <a:ln/>
        </p:spPr>
        <p:txBody>
          <a:bodyPr wrap="square" rtlCol="0" anchor="ctr"/>
          <a:lstStyle/>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The name disambiguation engine — bridging German orthography to modern Estonian names is a genuine technical achievement</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Wikidata integration gave us portraits, coordinates and Wikipedia fame signals with no manual curation</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Deduplication by (name × decade) made the pipeline feasible at hackathon scale</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The narrative closer — generating human-readable prose directly from data — was immediately compelling</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The slim_enriched.csv dataset is a standalone research asset that didn't exist before this hackathon</a:t>
            </a:r>
            <a:endParaRPr lang="en-US" sz="950" dirty="0"/>
          </a:p>
        </p:txBody>
      </p:sp>
      <p:sp>
        <p:nvSpPr>
          <p:cNvPr id="8" name="Shape 6"/>
          <p:cNvSpPr/>
          <p:nvPr/>
        </p:nvSpPr>
        <p:spPr>
          <a:xfrm>
            <a:off x="3291840" y="1234440"/>
            <a:ext cx="2651760" cy="3611880"/>
          </a:xfrm>
          <a:prstGeom prst="rect">
            <a:avLst/>
          </a:prstGeom>
          <a:solidFill>
            <a:srgbClr val="FFFFFF"/>
          </a:solidFill>
          <a:ln w="6350">
            <a:solidFill>
              <a:srgbClr val="E0DDD5"/>
            </a:solidFill>
            <a:prstDash val="solid"/>
          </a:ln>
        </p:spPr>
      </p:sp>
      <p:sp>
        <p:nvSpPr>
          <p:cNvPr id="9" name="Shape 7"/>
          <p:cNvSpPr/>
          <p:nvPr/>
        </p:nvSpPr>
        <p:spPr>
          <a:xfrm>
            <a:off x="3291840" y="1234440"/>
            <a:ext cx="2651760" cy="292608"/>
          </a:xfrm>
          <a:prstGeom prst="rect">
            <a:avLst/>
          </a:prstGeom>
          <a:solidFill>
            <a:srgbClr val="C0392B"/>
          </a:solidFill>
          <a:ln/>
        </p:spPr>
      </p:sp>
      <p:sp>
        <p:nvSpPr>
          <p:cNvPr id="10" name="Text 8"/>
          <p:cNvSpPr/>
          <p:nvPr/>
        </p:nvSpPr>
        <p:spPr>
          <a:xfrm>
            <a:off x="3383280" y="1252728"/>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Challenges</a:t>
            </a:r>
            <a:endParaRPr lang="en-US" sz="1200" dirty="0"/>
          </a:p>
        </p:txBody>
      </p:sp>
      <p:sp>
        <p:nvSpPr>
          <p:cNvPr id="11" name="Text 9"/>
          <p:cNvSpPr/>
          <p:nvPr/>
        </p:nvSpPr>
        <p:spPr>
          <a:xfrm>
            <a:off x="3383280" y="1600200"/>
            <a:ext cx="2487168" cy="3154680"/>
          </a:xfrm>
          <a:prstGeom prst="rect">
            <a:avLst/>
          </a:prstGeom>
          <a:noFill/>
          <a:ln/>
        </p:spPr>
        <p:txBody>
          <a:bodyPr wrap="square" rtlCol="0" anchor="ctr"/>
          <a:lstStyle/>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Cell 12 (disambiguation loop over unique names) ran for several hours — vectorisation would dramatically speed this up</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Google Drive sync issues with large files (400MB+) in Colab — files visible in browser but not in mounted filesystem</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The person column in court records was 100% empty — all name extraction had to come from HTML and jury fields only</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Confidence scores are probabilistic — high-confidence matches still require human verification for research use</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German→Estonian surname mapping (Berg→Mägi, Wald→Mets) is powerful but incomplete</a:t>
            </a:r>
            <a:endParaRPr lang="en-US" sz="950" dirty="0"/>
          </a:p>
        </p:txBody>
      </p:sp>
      <p:sp>
        <p:nvSpPr>
          <p:cNvPr id="12" name="Shape 10"/>
          <p:cNvSpPr/>
          <p:nvPr/>
        </p:nvSpPr>
        <p:spPr>
          <a:xfrm>
            <a:off x="6217920" y="1234440"/>
            <a:ext cx="2651760" cy="3611880"/>
          </a:xfrm>
          <a:prstGeom prst="rect">
            <a:avLst/>
          </a:prstGeom>
          <a:solidFill>
            <a:srgbClr val="FFFFFF"/>
          </a:solidFill>
          <a:ln w="6350">
            <a:solidFill>
              <a:srgbClr val="E0DDD5"/>
            </a:solidFill>
            <a:prstDash val="solid"/>
          </a:ln>
        </p:spPr>
      </p:sp>
      <p:sp>
        <p:nvSpPr>
          <p:cNvPr id="13" name="Shape 11"/>
          <p:cNvSpPr/>
          <p:nvPr/>
        </p:nvSpPr>
        <p:spPr>
          <a:xfrm>
            <a:off x="6217920" y="1234440"/>
            <a:ext cx="2651760" cy="292608"/>
          </a:xfrm>
          <a:prstGeom prst="rect">
            <a:avLst/>
          </a:prstGeom>
          <a:solidFill>
            <a:srgbClr val="E67E22"/>
          </a:solidFill>
          <a:ln/>
        </p:spPr>
      </p:sp>
      <p:sp>
        <p:nvSpPr>
          <p:cNvPr id="14" name="Text 12"/>
          <p:cNvSpPr/>
          <p:nvPr/>
        </p:nvSpPr>
        <p:spPr>
          <a:xfrm>
            <a:off x="6309360" y="1252728"/>
            <a:ext cx="24688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If we had more time</a:t>
            </a:r>
            <a:endParaRPr lang="en-US" sz="1200" dirty="0"/>
          </a:p>
        </p:txBody>
      </p:sp>
      <p:sp>
        <p:nvSpPr>
          <p:cNvPr id="15" name="Text 13"/>
          <p:cNvSpPr/>
          <p:nvPr/>
        </p:nvSpPr>
        <p:spPr>
          <a:xfrm>
            <a:off x="6309360" y="1600200"/>
            <a:ext cx="2487168" cy="3154680"/>
          </a:xfrm>
          <a:prstGeom prst="rect">
            <a:avLst/>
          </a:prstGeom>
          <a:noFill/>
          <a:ln/>
        </p:spPr>
        <p:txBody>
          <a:bodyPr wrap="square" rtlCol="0" anchor="ctr"/>
          <a:lstStyle/>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Integrate 1921 Name Estonianisation records — the official surname change data would dramatically improve disambiguation precision</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Build a social network graph of co-occurring names in the same court record — reconstructing village social fabric</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Add a parish-level deep dive: the full cultural biography of one community from court disputes to published books</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Build a 'lag map' of Estonia — how many years between a name appearing in court and appearing in print, by county</a:t>
            </a:r>
            <a:endParaRPr lang="en-US" sz="950" dirty="0"/>
          </a:p>
          <a:p>
            <a:pPr marL="342900" indent="-342900">
              <a:spcAft>
                <a:spcPts val="400"/>
              </a:spcAft>
              <a:buSzPct val="100000"/>
              <a:buChar char="•"/>
            </a:pPr>
            <a:r>
              <a:rPr lang="en-US" sz="950" dirty="0">
                <a:solidFill>
                  <a:srgbClr val="333344"/>
                </a:solidFill>
                <a:latin typeface="Calibri" pitchFamily="34" charset="0"/>
                <a:ea typeface="Calibri" pitchFamily="34" charset="-122"/>
                <a:cs typeface="Calibri" pitchFamily="34" charset="-120"/>
              </a:rPr>
              <a:t>Add geographic co-occurrence as a disambiguation signal: same parish = higher confidence</a:t>
            </a:r>
            <a:endParaRPr lang="en-US" sz="950" dirty="0"/>
          </a:p>
        </p:txBody>
      </p:sp>
      <p:sp>
        <p:nvSpPr>
          <p:cNvPr id="16" name="Text 14"/>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F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0392B"/>
          </a:solidFill>
          <a:ln/>
        </p:spPr>
      </p:sp>
      <p:sp>
        <p:nvSpPr>
          <p:cNvPr id="3" name="Text 1"/>
          <p:cNvSpPr/>
          <p:nvPr/>
        </p:nvSpPr>
        <p:spPr>
          <a:xfrm>
            <a:off x="457200" y="256032"/>
            <a:ext cx="8229600" cy="201168"/>
          </a:xfrm>
          <a:prstGeom prst="rect">
            <a:avLst/>
          </a:prstGeom>
          <a:noFill/>
          <a:ln/>
        </p:spPr>
        <p:txBody>
          <a:bodyPr wrap="square" rtlCol="0" anchor="ctr"/>
          <a:lstStyle/>
          <a:p>
            <a:pPr indent="0" marL="0">
              <a:buNone/>
            </a:pPr>
            <a:r>
              <a:rPr lang="en-US" sz="900" b="1" spc="300" kern="0" dirty="0">
                <a:solidFill>
                  <a:srgbClr val="C0392B"/>
                </a:solidFill>
                <a:latin typeface="Calibri" pitchFamily="34" charset="0"/>
                <a:ea typeface="Calibri" pitchFamily="34" charset="-122"/>
                <a:cs typeface="Calibri" pitchFamily="34" charset="-120"/>
              </a:rPr>
              <a:t>FUTURE POTENTIAL &amp; REUSABILITY</a:t>
            </a:r>
            <a:endParaRPr lang="en-US" sz="900" dirty="0"/>
          </a:p>
        </p:txBody>
      </p:sp>
      <p:sp>
        <p:nvSpPr>
          <p:cNvPr id="4" name="Text 2"/>
          <p:cNvSpPr/>
          <p:nvPr/>
        </p:nvSpPr>
        <p:spPr>
          <a:xfrm>
            <a:off x="457200" y="502920"/>
            <a:ext cx="822960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this becomes</a:t>
            </a:r>
            <a:endParaRPr lang="en-US" sz="3000" dirty="0"/>
          </a:p>
        </p:txBody>
      </p:sp>
      <p:sp>
        <p:nvSpPr>
          <p:cNvPr id="5" name="Text 3"/>
          <p:cNvSpPr/>
          <p:nvPr/>
        </p:nvSpPr>
        <p:spPr>
          <a:xfrm>
            <a:off x="457200" y="1261872"/>
            <a:ext cx="8321040" cy="640080"/>
          </a:xfrm>
          <a:prstGeom prst="rect">
            <a:avLst/>
          </a:prstGeom>
          <a:noFill/>
          <a:ln/>
        </p:spPr>
        <p:txBody>
          <a:bodyPr wrap="square" rtlCol="0" anchor="ctr"/>
          <a:lstStyle/>
          <a:p>
            <a:pPr indent="0" marL="0">
              <a:lnSpc>
                <a:spcPct val="135000"/>
              </a:lnSpc>
              <a:buNone/>
            </a:pPr>
            <a:r>
              <a:rPr lang="en-US" sz="1200" dirty="0">
                <a:solidFill>
                  <a:srgbClr val="D4D8E8"/>
                </a:solidFill>
                <a:latin typeface="Calibri" pitchFamily="34" charset="0"/>
                <a:ea typeface="Calibri" pitchFamily="34" charset="-122"/>
                <a:cs typeface="Calibri" pitchFamily="34" charset="-120"/>
              </a:rPr>
              <a:t>The name disambiguation engine is language-agnostic at the fuzzy and phonetic layers. The German→Estonian lookup table is the only Estonia-specific component. Swap it for a different orthographic mapping and the pipeline works for Finland, Latvia, Lithuania, Poland — any country with similar historical record structures.</a:t>
            </a:r>
            <a:endParaRPr lang="en-US" sz="1200" dirty="0"/>
          </a:p>
        </p:txBody>
      </p:sp>
      <p:sp>
        <p:nvSpPr>
          <p:cNvPr id="6" name="Shape 4"/>
          <p:cNvSpPr/>
          <p:nvPr/>
        </p:nvSpPr>
        <p:spPr>
          <a:xfrm>
            <a:off x="365760" y="2029968"/>
            <a:ext cx="457200" cy="777240"/>
          </a:xfrm>
          <a:prstGeom prst="rect">
            <a:avLst/>
          </a:prstGeom>
          <a:solidFill>
            <a:srgbClr val="2471A3"/>
          </a:solidFill>
          <a:ln/>
        </p:spPr>
      </p:sp>
      <p:sp>
        <p:nvSpPr>
          <p:cNvPr id="7" name="Text 5"/>
          <p:cNvSpPr/>
          <p:nvPr/>
        </p:nvSpPr>
        <p:spPr>
          <a:xfrm>
            <a:off x="365760" y="2029968"/>
            <a:ext cx="4572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A</a:t>
            </a:r>
            <a:endParaRPr lang="en-US" sz="2200" dirty="0"/>
          </a:p>
        </p:txBody>
      </p:sp>
      <p:sp>
        <p:nvSpPr>
          <p:cNvPr id="8" name="Shape 6"/>
          <p:cNvSpPr/>
          <p:nvPr/>
        </p:nvSpPr>
        <p:spPr>
          <a:xfrm>
            <a:off x="822960" y="2029968"/>
            <a:ext cx="3657600" cy="777240"/>
          </a:xfrm>
          <a:prstGeom prst="rect">
            <a:avLst/>
          </a:prstGeom>
          <a:solidFill>
            <a:srgbClr val="1E2440"/>
          </a:solidFill>
          <a:ln w="3810">
            <a:solidFill>
              <a:srgbClr val="2C3454"/>
            </a:solidFill>
            <a:prstDash val="solid"/>
          </a:ln>
        </p:spPr>
      </p:sp>
      <p:sp>
        <p:nvSpPr>
          <p:cNvPr id="9" name="Text 7"/>
          <p:cNvSpPr/>
          <p:nvPr/>
        </p:nvSpPr>
        <p:spPr>
          <a:xfrm>
            <a:off x="932688" y="2084832"/>
            <a:ext cx="347472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1921 Estonianisation records</a:t>
            </a:r>
            <a:endParaRPr lang="en-US" sz="1100" dirty="0"/>
          </a:p>
        </p:txBody>
      </p:sp>
      <p:sp>
        <p:nvSpPr>
          <p:cNvPr id="10" name="Text 8"/>
          <p:cNvSpPr/>
          <p:nvPr/>
        </p:nvSpPr>
        <p:spPr>
          <a:xfrm>
            <a:off x="932688" y="2350008"/>
            <a:ext cx="3474720" cy="420624"/>
          </a:xfrm>
          <a:prstGeom prst="rect">
            <a:avLst/>
          </a:prstGeom>
          <a:noFill/>
          <a:ln/>
        </p:spPr>
        <p:txBody>
          <a:bodyPr wrap="square" rtlCol="0" anchor="ctr"/>
          <a:lstStyle/>
          <a:p>
            <a:pPr indent="0" marL="0">
              <a:lnSpc>
                <a:spcPct val="115000"/>
              </a:lnSpc>
              <a:buNone/>
            </a:pPr>
            <a:r>
              <a:rPr lang="en-US" sz="900" dirty="0">
                <a:solidFill>
                  <a:srgbClr val="D4D8E8"/>
                </a:solidFill>
                <a:latin typeface="Calibri" pitchFamily="34" charset="0"/>
                <a:ea typeface="Calibri" pitchFamily="34" charset="-122"/>
                <a:cs typeface="Calibri" pitchFamily="34" charset="-120"/>
              </a:rPr>
              <a:t>Map German surnames to their chosen Estonian replacements with historical authority — the most impactful single enhancement to disambiguation precision</a:t>
            </a:r>
            <a:endParaRPr lang="en-US" sz="900" dirty="0"/>
          </a:p>
        </p:txBody>
      </p:sp>
      <p:sp>
        <p:nvSpPr>
          <p:cNvPr id="11" name="Shape 9"/>
          <p:cNvSpPr/>
          <p:nvPr/>
        </p:nvSpPr>
        <p:spPr>
          <a:xfrm>
            <a:off x="365760" y="2944368"/>
            <a:ext cx="457200" cy="777240"/>
          </a:xfrm>
          <a:prstGeom prst="rect">
            <a:avLst/>
          </a:prstGeom>
          <a:solidFill>
            <a:srgbClr val="0F6E56"/>
          </a:solidFill>
          <a:ln/>
        </p:spPr>
      </p:sp>
      <p:sp>
        <p:nvSpPr>
          <p:cNvPr id="12" name="Text 10"/>
          <p:cNvSpPr/>
          <p:nvPr/>
        </p:nvSpPr>
        <p:spPr>
          <a:xfrm>
            <a:off x="365760" y="2944368"/>
            <a:ext cx="4572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B</a:t>
            </a:r>
            <a:endParaRPr lang="en-US" sz="2200" dirty="0"/>
          </a:p>
        </p:txBody>
      </p:sp>
      <p:sp>
        <p:nvSpPr>
          <p:cNvPr id="13" name="Shape 11"/>
          <p:cNvSpPr/>
          <p:nvPr/>
        </p:nvSpPr>
        <p:spPr>
          <a:xfrm>
            <a:off x="822960" y="2944368"/>
            <a:ext cx="3657600" cy="777240"/>
          </a:xfrm>
          <a:prstGeom prst="rect">
            <a:avLst/>
          </a:prstGeom>
          <a:solidFill>
            <a:srgbClr val="1E2440"/>
          </a:solidFill>
          <a:ln w="3810">
            <a:solidFill>
              <a:srgbClr val="2C3454"/>
            </a:solidFill>
            <a:prstDash val="solid"/>
          </a:ln>
        </p:spPr>
      </p:sp>
      <p:sp>
        <p:nvSpPr>
          <p:cNvPr id="14" name="Text 12"/>
          <p:cNvSpPr/>
          <p:nvPr/>
        </p:nvSpPr>
        <p:spPr>
          <a:xfrm>
            <a:off x="932688" y="2999232"/>
            <a:ext cx="347472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Social fabric network</a:t>
            </a:r>
            <a:endParaRPr lang="en-US" sz="1100" dirty="0"/>
          </a:p>
        </p:txBody>
      </p:sp>
      <p:sp>
        <p:nvSpPr>
          <p:cNvPr id="15" name="Text 13"/>
          <p:cNvSpPr/>
          <p:nvPr/>
        </p:nvSpPr>
        <p:spPr>
          <a:xfrm>
            <a:off x="932688" y="3264408"/>
            <a:ext cx="3474720" cy="420624"/>
          </a:xfrm>
          <a:prstGeom prst="rect">
            <a:avLst/>
          </a:prstGeom>
          <a:noFill/>
          <a:ln/>
        </p:spPr>
        <p:txBody>
          <a:bodyPr wrap="square" rtlCol="0" anchor="ctr"/>
          <a:lstStyle/>
          <a:p>
            <a:pPr indent="0" marL="0">
              <a:lnSpc>
                <a:spcPct val="115000"/>
              </a:lnSpc>
              <a:buNone/>
            </a:pPr>
            <a:r>
              <a:rPr lang="en-US" sz="900" dirty="0">
                <a:solidFill>
                  <a:srgbClr val="D4D8E8"/>
                </a:solidFill>
                <a:latin typeface="Calibri" pitchFamily="34" charset="0"/>
                <a:ea typeface="Calibri" pitchFamily="34" charset="-122"/>
                <a:cs typeface="Calibri" pitchFamily="34" charset="-120"/>
              </a:rPr>
              <a:t>Names appearing in the same court record are connected. A graph of co-occurrences reconstructs 19th-century village social networks — unique in world genealogy tools</a:t>
            </a:r>
            <a:endParaRPr lang="en-US" sz="900" dirty="0"/>
          </a:p>
        </p:txBody>
      </p:sp>
      <p:sp>
        <p:nvSpPr>
          <p:cNvPr id="16" name="Shape 14"/>
          <p:cNvSpPr/>
          <p:nvPr/>
        </p:nvSpPr>
        <p:spPr>
          <a:xfrm>
            <a:off x="365760" y="3858768"/>
            <a:ext cx="457200" cy="777240"/>
          </a:xfrm>
          <a:prstGeom prst="rect">
            <a:avLst/>
          </a:prstGeom>
          <a:solidFill>
            <a:srgbClr val="E67E22"/>
          </a:solidFill>
          <a:ln/>
        </p:spPr>
      </p:sp>
      <p:sp>
        <p:nvSpPr>
          <p:cNvPr id="17" name="Text 15"/>
          <p:cNvSpPr/>
          <p:nvPr/>
        </p:nvSpPr>
        <p:spPr>
          <a:xfrm>
            <a:off x="365760" y="3858768"/>
            <a:ext cx="4572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C</a:t>
            </a:r>
            <a:endParaRPr lang="en-US" sz="2200" dirty="0"/>
          </a:p>
        </p:txBody>
      </p:sp>
      <p:sp>
        <p:nvSpPr>
          <p:cNvPr id="18" name="Shape 16"/>
          <p:cNvSpPr/>
          <p:nvPr/>
        </p:nvSpPr>
        <p:spPr>
          <a:xfrm>
            <a:off x="822960" y="3858768"/>
            <a:ext cx="3657600" cy="777240"/>
          </a:xfrm>
          <a:prstGeom prst="rect">
            <a:avLst/>
          </a:prstGeom>
          <a:solidFill>
            <a:srgbClr val="1E2440"/>
          </a:solidFill>
          <a:ln w="3810">
            <a:solidFill>
              <a:srgbClr val="2C3454"/>
            </a:solidFill>
            <a:prstDash val="solid"/>
          </a:ln>
        </p:spPr>
      </p:sp>
      <p:sp>
        <p:nvSpPr>
          <p:cNvPr id="19" name="Text 17"/>
          <p:cNvSpPr/>
          <p:nvPr/>
        </p:nvSpPr>
        <p:spPr>
          <a:xfrm>
            <a:off x="932688" y="3913632"/>
            <a:ext cx="347472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Parish deep dives</a:t>
            </a:r>
            <a:endParaRPr lang="en-US" sz="1100" dirty="0"/>
          </a:p>
        </p:txBody>
      </p:sp>
      <p:sp>
        <p:nvSpPr>
          <p:cNvPr id="20" name="Text 18"/>
          <p:cNvSpPr/>
          <p:nvPr/>
        </p:nvSpPr>
        <p:spPr>
          <a:xfrm>
            <a:off x="932688" y="4178808"/>
            <a:ext cx="3474720" cy="420624"/>
          </a:xfrm>
          <a:prstGeom prst="rect">
            <a:avLst/>
          </a:prstGeom>
          <a:noFill/>
          <a:ln/>
        </p:spPr>
        <p:txBody>
          <a:bodyPr wrap="square" rtlCol="0" anchor="ctr"/>
          <a:lstStyle/>
          <a:p>
            <a:pPr indent="0" marL="0">
              <a:lnSpc>
                <a:spcPct val="115000"/>
              </a:lnSpc>
              <a:buNone/>
            </a:pPr>
            <a:r>
              <a:rPr lang="en-US" sz="900" dirty="0">
                <a:solidFill>
                  <a:srgbClr val="D4D8E8"/>
                </a:solidFill>
                <a:latin typeface="Calibri" pitchFamily="34" charset="0"/>
                <a:ea typeface="Calibri" pitchFamily="34" charset="-122"/>
                <a:cs typeface="Calibri" pitchFamily="34" charset="-120"/>
              </a:rPr>
              <a:t>The full cultural biography of one community — every dispute, every name, every book published — as a scrollable longform story. Reusable template for 400 parishes</a:t>
            </a:r>
            <a:endParaRPr lang="en-US" sz="900" dirty="0"/>
          </a:p>
        </p:txBody>
      </p:sp>
      <p:sp>
        <p:nvSpPr>
          <p:cNvPr id="21" name="Shape 19"/>
          <p:cNvSpPr/>
          <p:nvPr/>
        </p:nvSpPr>
        <p:spPr>
          <a:xfrm>
            <a:off x="4754880" y="2029968"/>
            <a:ext cx="457200" cy="777240"/>
          </a:xfrm>
          <a:prstGeom prst="rect">
            <a:avLst/>
          </a:prstGeom>
          <a:solidFill>
            <a:srgbClr val="C0392B"/>
          </a:solidFill>
          <a:ln/>
        </p:spPr>
      </p:sp>
      <p:sp>
        <p:nvSpPr>
          <p:cNvPr id="22" name="Text 20"/>
          <p:cNvSpPr/>
          <p:nvPr/>
        </p:nvSpPr>
        <p:spPr>
          <a:xfrm>
            <a:off x="4754880" y="2029968"/>
            <a:ext cx="4572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D</a:t>
            </a:r>
            <a:endParaRPr lang="en-US" sz="2200" dirty="0"/>
          </a:p>
        </p:txBody>
      </p:sp>
      <p:sp>
        <p:nvSpPr>
          <p:cNvPr id="23" name="Shape 21"/>
          <p:cNvSpPr/>
          <p:nvPr/>
        </p:nvSpPr>
        <p:spPr>
          <a:xfrm>
            <a:off x="5212080" y="2029968"/>
            <a:ext cx="3657600" cy="777240"/>
          </a:xfrm>
          <a:prstGeom prst="rect">
            <a:avLst/>
          </a:prstGeom>
          <a:solidFill>
            <a:srgbClr val="1E2440"/>
          </a:solidFill>
          <a:ln w="3810">
            <a:solidFill>
              <a:srgbClr val="2C3454"/>
            </a:solidFill>
            <a:prstDash val="solid"/>
          </a:ln>
        </p:spPr>
      </p:sp>
      <p:sp>
        <p:nvSpPr>
          <p:cNvPr id="24" name="Text 22"/>
          <p:cNvSpPr/>
          <p:nvPr/>
        </p:nvSpPr>
        <p:spPr>
          <a:xfrm>
            <a:off x="5321808" y="2084832"/>
            <a:ext cx="347472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lag map of Estonia</a:t>
            </a:r>
            <a:endParaRPr lang="en-US" sz="1100" dirty="0"/>
          </a:p>
        </p:txBody>
      </p:sp>
      <p:sp>
        <p:nvSpPr>
          <p:cNvPr id="25" name="Text 23"/>
          <p:cNvSpPr/>
          <p:nvPr/>
        </p:nvSpPr>
        <p:spPr>
          <a:xfrm>
            <a:off x="5321808" y="2350008"/>
            <a:ext cx="3474720" cy="420624"/>
          </a:xfrm>
          <a:prstGeom prst="rect">
            <a:avLst/>
          </a:prstGeom>
          <a:noFill/>
          <a:ln/>
        </p:spPr>
        <p:txBody>
          <a:bodyPr wrap="square" rtlCol="0" anchor="ctr"/>
          <a:lstStyle/>
          <a:p>
            <a:pPr indent="0" marL="0">
              <a:lnSpc>
                <a:spcPct val="115000"/>
              </a:lnSpc>
              <a:buNone/>
            </a:pPr>
            <a:r>
              <a:rPr lang="en-US" sz="900" dirty="0">
                <a:solidFill>
                  <a:srgbClr val="D4D8E8"/>
                </a:solidFill>
                <a:latin typeface="Calibri" pitchFamily="34" charset="0"/>
                <a:ea typeface="Calibri" pitchFamily="34" charset="-122"/>
                <a:cs typeface="Calibri" pitchFamily="34" charset="-120"/>
              </a:rPr>
              <a:t>How many years between a name first appearing in court records and first appearing in print, mapped by county? This reveals which regions led the cultural transition</a:t>
            </a:r>
            <a:endParaRPr lang="en-US" sz="900" dirty="0"/>
          </a:p>
        </p:txBody>
      </p:sp>
      <p:sp>
        <p:nvSpPr>
          <p:cNvPr id="26" name="Shape 24"/>
          <p:cNvSpPr/>
          <p:nvPr/>
        </p:nvSpPr>
        <p:spPr>
          <a:xfrm>
            <a:off x="4754880" y="2944368"/>
            <a:ext cx="457200" cy="777240"/>
          </a:xfrm>
          <a:prstGeom prst="rect">
            <a:avLst/>
          </a:prstGeom>
          <a:solidFill>
            <a:srgbClr val="8E44AD"/>
          </a:solidFill>
          <a:ln/>
        </p:spPr>
      </p:sp>
      <p:sp>
        <p:nvSpPr>
          <p:cNvPr id="27" name="Text 25"/>
          <p:cNvSpPr/>
          <p:nvPr/>
        </p:nvSpPr>
        <p:spPr>
          <a:xfrm>
            <a:off x="4754880" y="2944368"/>
            <a:ext cx="4572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E</a:t>
            </a:r>
            <a:endParaRPr lang="en-US" sz="2200" dirty="0"/>
          </a:p>
        </p:txBody>
      </p:sp>
      <p:sp>
        <p:nvSpPr>
          <p:cNvPr id="28" name="Shape 26"/>
          <p:cNvSpPr/>
          <p:nvPr/>
        </p:nvSpPr>
        <p:spPr>
          <a:xfrm>
            <a:off x="5212080" y="2944368"/>
            <a:ext cx="3657600" cy="777240"/>
          </a:xfrm>
          <a:prstGeom prst="rect">
            <a:avLst/>
          </a:prstGeom>
          <a:solidFill>
            <a:srgbClr val="1E2440"/>
          </a:solidFill>
          <a:ln w="3810">
            <a:solidFill>
              <a:srgbClr val="2C3454"/>
            </a:solidFill>
            <a:prstDash val="solid"/>
          </a:ln>
        </p:spPr>
      </p:sp>
      <p:sp>
        <p:nvSpPr>
          <p:cNvPr id="29" name="Text 27"/>
          <p:cNvSpPr/>
          <p:nvPr/>
        </p:nvSpPr>
        <p:spPr>
          <a:xfrm>
            <a:off x="5321808" y="2999232"/>
            <a:ext cx="347472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Open research dataset</a:t>
            </a:r>
            <a:endParaRPr lang="en-US" sz="1100" dirty="0"/>
          </a:p>
        </p:txBody>
      </p:sp>
      <p:sp>
        <p:nvSpPr>
          <p:cNvPr id="30" name="Text 28"/>
          <p:cNvSpPr/>
          <p:nvPr/>
        </p:nvSpPr>
        <p:spPr>
          <a:xfrm>
            <a:off x="5321808" y="3264408"/>
            <a:ext cx="3474720" cy="420624"/>
          </a:xfrm>
          <a:prstGeom prst="rect">
            <a:avLst/>
          </a:prstGeom>
          <a:noFill/>
          <a:ln/>
        </p:spPr>
        <p:txBody>
          <a:bodyPr wrap="square" rtlCol="0" anchor="ctr"/>
          <a:lstStyle/>
          <a:p>
            <a:pPr indent="0" marL="0">
              <a:lnSpc>
                <a:spcPct val="115000"/>
              </a:lnSpc>
              <a:buNone/>
            </a:pPr>
            <a:r>
              <a:rPr lang="en-US" sz="900" dirty="0">
                <a:solidFill>
                  <a:srgbClr val="D4D8E8"/>
                </a:solidFill>
                <a:latin typeface="Calibri" pitchFamily="34" charset="0"/>
                <a:ea typeface="Calibri" pitchFamily="34" charset="-122"/>
                <a:cs typeface="Calibri" pitchFamily="34" charset="-120"/>
              </a:rPr>
              <a:t>slim_enriched.csv is a standalone asset linking 4M legal records to bibliographic persons — the foundation for computational history research on Estonian identity</a:t>
            </a:r>
            <a:endParaRPr lang="en-US" sz="900" dirty="0"/>
          </a:p>
        </p:txBody>
      </p:sp>
      <p:sp>
        <p:nvSpPr>
          <p:cNvPr id="31" name="Shape 29"/>
          <p:cNvSpPr/>
          <p:nvPr/>
        </p:nvSpPr>
        <p:spPr>
          <a:xfrm>
            <a:off x="365760" y="4709160"/>
            <a:ext cx="45720" cy="347472"/>
          </a:xfrm>
          <a:prstGeom prst="rect">
            <a:avLst/>
          </a:prstGeom>
          <a:solidFill>
            <a:srgbClr val="E67E22"/>
          </a:solidFill>
          <a:ln/>
        </p:spPr>
      </p:sp>
      <p:sp>
        <p:nvSpPr>
          <p:cNvPr id="32" name="Text 30"/>
          <p:cNvSpPr/>
          <p:nvPr/>
        </p:nvSpPr>
        <p:spPr>
          <a:xfrm>
            <a:off x="548640" y="4709160"/>
            <a:ext cx="8229600" cy="347472"/>
          </a:xfrm>
          <a:prstGeom prst="rect">
            <a:avLst/>
          </a:prstGeom>
          <a:noFill/>
          <a:ln/>
        </p:spPr>
        <p:txBody>
          <a:bodyPr wrap="square" rtlCol="0" anchor="ctr"/>
          <a:lstStyle/>
          <a:p>
            <a:pPr indent="0" marL="0">
              <a:buNone/>
            </a:pPr>
            <a:r>
              <a:rPr lang="en-US" sz="1100" i="1" dirty="0">
                <a:solidFill>
                  <a:srgbClr val="F0EEE8"/>
                </a:solidFill>
                <a:latin typeface="Georgia" pitchFamily="34" charset="0"/>
                <a:ea typeface="Georgia" pitchFamily="34" charset="-122"/>
                <a:cs typeface="Georgia" pitchFamily="34" charset="-120"/>
              </a:rPr>
              <a:t>“A name that once stood before a court now stands on a title page. That crossing is the story of Estonia finding its written voice.”</a:t>
            </a:r>
            <a:endParaRPr lang="en-US" sz="1100" dirty="0"/>
          </a:p>
        </p:txBody>
      </p:sp>
      <p:sp>
        <p:nvSpPr>
          <p:cNvPr id="33" name="Text 31"/>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098B0"/>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Name in History — Hum Hackathon 2026</dc:title>
  <dc:subject>PptxGenJS Presentation</dc:subject>
  <dc:creator>PptxGenJS</dc:creator>
  <cp:lastModifiedBy>PptxGenJS</cp:lastModifiedBy>
  <cp:revision>1</cp:revision>
  <dcterms:created xsi:type="dcterms:W3CDTF">2026-04-19T09:03:54Z</dcterms:created>
  <dcterms:modified xsi:type="dcterms:W3CDTF">2026-04-19T09:03:54Z</dcterms:modified>
</cp:coreProperties>
</file>